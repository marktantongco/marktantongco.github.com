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z/my-project/download/ppt-slides/dark-gradient.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0" y="0"/>
            <a:ext cx="9144000" cy="5143500"/>
          </a:xfrm>
          <a:prstGeom prst="rect">
            <a:avLst/>
          </a:prstGeom>
          <a:solidFill>
            <a:srgbClr val="1E120A">
              <a:alpha val="45000"/>
            </a:srgbClr>
          </a:solidFill>
          <a:ln/>
        </p:spPr>
        <p:txBody>
          <a:bodyPr wrap="square" rtlCol="0" anchor="ctr"/>
          <a:lstStyle/>
          <a:p>
            <a:pPr indent="0" marL="0">
              <a:buNone/>
            </a:pPr>
            <a:endParaRPr lang="en-US" dirty="0"/>
          </a:p>
        </p:txBody>
      </p:sp>
      <p:sp>
        <p:nvSpPr>
          <p:cNvPr id="4" name="Text 1"/>
          <p:cNvSpPr/>
          <p:nvPr/>
        </p:nvSpPr>
        <p:spPr>
          <a:xfrm>
            <a:off x="2568476" y="1085552"/>
            <a:ext cx="4007048" cy="317302"/>
          </a:xfrm>
          <a:prstGeom prst="roundRect">
            <a:avLst>
              <a:gd name="adj" fmla="val 12007"/>
            </a:avLst>
          </a:prstGeom>
          <a:noFill/>
          <a:ln w="19050">
            <a:solidFill>
              <a:srgbClr val="C09E30"/>
            </a:solidFill>
          </a:ln>
        </p:spPr>
        <p:txBody>
          <a:bodyPr wrap="square" rtlCol="0" anchor="ctr"/>
          <a:lstStyle/>
          <a:p>
            <a:pPr indent="0" marL="0">
              <a:buNone/>
            </a:pPr>
            <a:endParaRPr lang="en-US" dirty="0"/>
          </a:p>
        </p:txBody>
      </p:sp>
      <p:sp>
        <p:nvSpPr>
          <p:cNvPr id="5" name="Text 2"/>
          <p:cNvSpPr/>
          <p:nvPr/>
        </p:nvSpPr>
        <p:spPr>
          <a:xfrm>
            <a:off x="2440595" y="1168003"/>
            <a:ext cx="4262810" cy="164592"/>
          </a:xfrm>
          <a:prstGeom prst="rect">
            <a:avLst/>
          </a:prstGeom>
          <a:noFill/>
          <a:ln/>
        </p:spPr>
        <p:txBody>
          <a:bodyPr wrap="none" lIns="0" tIns="0" rIns="0" bIns="0" rtlCol="0" anchor="t"/>
          <a:lstStyle/>
          <a:p>
            <a:pPr algn="ctr" indent="0" marL="0">
              <a:buNone/>
            </a:pPr>
            <a:r>
              <a:rPr lang="en-US" sz="1100" spc="300" kern="0" dirty="0">
                <a:solidFill>
                  <a:srgbClr val="C09E30"/>
                </a:solidFill>
                <a:latin typeface="Corbel" pitchFamily="34" charset="0"/>
                <a:ea typeface="Corbel" pitchFamily="34" charset="-122"/>
                <a:cs typeface="Corbel" pitchFamily="34" charset="-120"/>
              </a:rPr>
              <a:t>PURPOSE-DRIVEN PROFESSIONAL</a:t>
            </a:r>
            <a:endParaRPr lang="en-US" sz="1100" dirty="0"/>
          </a:p>
        </p:txBody>
      </p:sp>
      <p:sp>
        <p:nvSpPr>
          <p:cNvPr id="6" name="Text 3"/>
          <p:cNvSpPr/>
          <p:nvPr/>
        </p:nvSpPr>
        <p:spPr>
          <a:xfrm>
            <a:off x="274320" y="1656755"/>
            <a:ext cx="8595360" cy="1119033"/>
          </a:xfrm>
          <a:prstGeom prst="rect">
            <a:avLst/>
          </a:prstGeom>
          <a:noFill/>
          <a:ln/>
        </p:spPr>
        <p:txBody>
          <a:bodyPr wrap="square" lIns="0" tIns="0" rIns="0" bIns="0" rtlCol="0" anchor="t"/>
          <a:lstStyle/>
          <a:p>
            <a:pPr algn="ctr" indent="0" marL="0">
              <a:lnSpc>
                <a:spcPts val="4080"/>
              </a:lnSpc>
              <a:spcAft>
                <a:spcPts val="1200"/>
              </a:spcAft>
              <a:buNone/>
            </a:pPr>
            <a:r>
              <a:rPr lang="en-US" sz="3400" spc="100" kern="0" dirty="0">
                <a:solidFill>
                  <a:srgbClr val="FFFFFF"/>
                </a:solidFill>
                <a:latin typeface="Palatino Linotype" pitchFamily="34" charset="0"/>
                <a:ea typeface="Palatino Linotype" pitchFamily="34" charset="-122"/>
                <a:cs typeface="Palatino Linotype" pitchFamily="34" charset="-120"/>
              </a:rPr>
              <a:t>THE 100% ACCOUNTABILITY</a:t>
            </a:r>
            <a:endParaRPr lang="en-US" sz="3400" dirty="0"/>
          </a:p>
          <a:p>
            <a:pPr algn="ctr" indent="0" marL="0">
              <a:lnSpc>
                <a:spcPts val="4080"/>
              </a:lnSpc>
              <a:spcAft>
                <a:spcPts val="1200"/>
              </a:spcAft>
              <a:buNone/>
            </a:pPr>
            <a:r>
              <a:rPr lang="en-US" sz="3400" spc="100" kern="0" dirty="0">
                <a:solidFill>
                  <a:srgbClr val="FFFFFF"/>
                </a:solidFill>
                <a:latin typeface="Palatino Linotype" pitchFamily="34" charset="0"/>
                <a:ea typeface="Palatino Linotype" pitchFamily="34" charset="-122"/>
                <a:cs typeface="Palatino Linotype" pitchFamily="34" charset="-120"/>
              </a:rPr>
              <a:t>SALES PLAYBOOK</a:t>
            </a:r>
            <a:endParaRPr lang="en-US" sz="3400" dirty="0"/>
          </a:p>
        </p:txBody>
      </p:sp>
      <p:sp>
        <p:nvSpPr>
          <p:cNvPr id="7" name="Text 4"/>
          <p:cNvSpPr/>
          <p:nvPr/>
        </p:nvSpPr>
        <p:spPr>
          <a:xfrm>
            <a:off x="4064050" y="2845296"/>
            <a:ext cx="1015901" cy="25301"/>
          </a:xfrm>
          <a:prstGeom prst="rect">
            <a:avLst/>
          </a:prstGeom>
          <a:solidFill>
            <a:srgbClr val="C09E30"/>
          </a:solidFill>
          <a:ln/>
        </p:spPr>
        <p:txBody>
          <a:bodyPr wrap="square" rtlCol="0" anchor="ctr"/>
          <a:lstStyle/>
          <a:p>
            <a:pPr indent="0" marL="0">
              <a:buNone/>
            </a:pPr>
            <a:endParaRPr lang="en-US" dirty="0"/>
          </a:p>
        </p:txBody>
      </p:sp>
      <p:sp>
        <p:nvSpPr>
          <p:cNvPr id="8" name="Text 5"/>
          <p:cNvSpPr/>
          <p:nvPr/>
        </p:nvSpPr>
        <p:spPr>
          <a:xfrm>
            <a:off x="2606743" y="3048298"/>
            <a:ext cx="3930365" cy="288036"/>
          </a:xfrm>
          <a:prstGeom prst="rect">
            <a:avLst/>
          </a:prstGeom>
          <a:noFill/>
          <a:ln/>
        </p:spPr>
        <p:txBody>
          <a:bodyPr wrap="none" lIns="0" tIns="0" rIns="0" bIns="0" rtlCol="0" anchor="t"/>
          <a:lstStyle/>
          <a:p>
            <a:pPr algn="ctr" indent="0" marL="0">
              <a:spcAft>
                <a:spcPts val="2200"/>
              </a:spcAft>
              <a:buNone/>
            </a:pPr>
            <a:r>
              <a:rPr lang="en-US" sz="1800" spc="50" kern="0" dirty="0">
                <a:solidFill>
                  <a:srgbClr val="CEBFB5"/>
                </a:solidFill>
                <a:latin typeface="Corbel" pitchFamily="34" charset="0"/>
                <a:ea typeface="Corbel" pitchFamily="34" charset="-122"/>
                <a:cs typeface="Corbel" pitchFamily="34" charset="-120"/>
              </a:rPr>
              <a:t>Own Outcomes, Not Excuses</a:t>
            </a:r>
            <a:endParaRPr lang="en-US" sz="1800" dirty="0"/>
          </a:p>
        </p:txBody>
      </p:sp>
      <p:sp>
        <p:nvSpPr>
          <p:cNvPr id="9" name="Text 6"/>
          <p:cNvSpPr/>
          <p:nvPr/>
        </p:nvSpPr>
        <p:spPr>
          <a:xfrm>
            <a:off x="1534995" y="3594348"/>
            <a:ext cx="6073862" cy="216027"/>
          </a:xfrm>
          <a:prstGeom prst="rect">
            <a:avLst/>
          </a:prstGeom>
          <a:noFill/>
          <a:ln/>
        </p:spPr>
        <p:txBody>
          <a:bodyPr wrap="none" lIns="0" tIns="0" rIns="0" bIns="0" rtlCol="0" anchor="t"/>
          <a:lstStyle/>
          <a:p>
            <a:pPr algn="ctr" indent="0" marL="0">
              <a:spcAft>
                <a:spcPts val="800"/>
              </a:spcAft>
              <a:buNone/>
            </a:pPr>
            <a:r>
              <a:rPr lang="en-US" sz="1300" dirty="0">
                <a:solidFill>
                  <a:srgbClr val="9E8A7A"/>
                </a:solidFill>
                <a:latin typeface="Corbel" pitchFamily="34" charset="0"/>
                <a:ea typeface="Corbel" pitchFamily="34" charset="-122"/>
                <a:cs typeface="Corbel" pitchFamily="34" charset="-120"/>
              </a:rPr>
              <a:t>By Mark Anthony Ng Tantongco  |  Agency Sales Director  |  MDRT</a:t>
            </a:r>
            <a:endParaRPr lang="en-US" sz="1300" dirty="0"/>
          </a:p>
        </p:txBody>
      </p:sp>
      <p:sp>
        <p:nvSpPr>
          <p:cNvPr id="10" name="Text 7"/>
          <p:cNvSpPr/>
          <p:nvPr/>
        </p:nvSpPr>
        <p:spPr>
          <a:xfrm>
            <a:off x="2457182" y="3895874"/>
            <a:ext cx="4229636" cy="174879"/>
          </a:xfrm>
          <a:prstGeom prst="rect">
            <a:avLst/>
          </a:prstGeom>
          <a:noFill/>
          <a:ln/>
        </p:spPr>
        <p:txBody>
          <a:bodyPr wrap="square" lIns="0" tIns="0" rIns="0" bIns="0" rtlCol="0" anchor="t"/>
          <a:lstStyle/>
          <a:p>
            <a:pPr algn="ctr" indent="0" marL="0">
              <a:buNone/>
            </a:pPr>
            <a:r>
              <a:rPr lang="en-US" sz="1100" i="1" dirty="0">
                <a:solidFill>
                  <a:srgbClr val="6B5443"/>
                </a:solidFill>
                <a:latin typeface="Palatino Linotype" pitchFamily="34" charset="0"/>
                <a:ea typeface="Palatino Linotype" pitchFamily="34" charset="-122"/>
                <a:cs typeface="Palatino Linotype" pitchFamily="34" charset="-120"/>
              </a:rPr>
              <a:t>"I can do all things through Christ who strengthens me — Phil 4:13"</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z/my-project/download/ppt-slides/light-gradient.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0" y="0"/>
            <a:ext cx="76200" cy="5143500"/>
          </a:xfrm>
          <a:prstGeom prst="rect">
            <a:avLst/>
          </a:prstGeom>
          <a:solidFill>
            <a:srgbClr val="C09E30"/>
          </a:solidFill>
          <a:ln/>
        </p:spPr>
        <p:txBody>
          <a:bodyPr wrap="square" rtlCol="0" anchor="ctr"/>
          <a:lstStyle/>
          <a:p>
            <a:pPr indent="0" marL="0">
              <a:buNone/>
            </a:pPr>
            <a:endParaRPr lang="en-US" dirty="0"/>
          </a:p>
        </p:txBody>
      </p:sp>
      <p:sp>
        <p:nvSpPr>
          <p:cNvPr id="4" name="Text 1"/>
          <p:cNvSpPr/>
          <p:nvPr/>
        </p:nvSpPr>
        <p:spPr>
          <a:xfrm>
            <a:off x="457200" y="406301"/>
            <a:ext cx="8636000" cy="442341"/>
          </a:xfrm>
          <a:prstGeom prst="rect">
            <a:avLst/>
          </a:prstGeom>
          <a:noFill/>
          <a:ln/>
        </p:spPr>
        <p:txBody>
          <a:bodyPr wrap="square" lIns="0" tIns="0" rIns="0" bIns="0" rtlCol="0" anchor="t"/>
          <a:lstStyle/>
          <a:p>
            <a:pPr algn="l" indent="0" marL="0">
              <a:spcAft>
                <a:spcPts val="600"/>
              </a:spcAft>
              <a:buNone/>
            </a:pPr>
            <a:r>
              <a:rPr lang="en-US" sz="2800" b="1" dirty="0">
                <a:solidFill>
                  <a:srgbClr val="3C2415"/>
                </a:solidFill>
                <a:latin typeface="Palatino Linotype" pitchFamily="34" charset="0"/>
                <a:ea typeface="Palatino Linotype" pitchFamily="34" charset="-122"/>
                <a:cs typeface="Palatino Linotype" pitchFamily="34" charset="-120"/>
              </a:rPr>
              <a:t>Why This Works</a:t>
            </a:r>
            <a:endParaRPr lang="en-US" sz="2800" dirty="0"/>
          </a:p>
        </p:txBody>
      </p:sp>
      <p:sp>
        <p:nvSpPr>
          <p:cNvPr id="5" name="Text 2"/>
          <p:cNvSpPr/>
          <p:nvPr/>
        </p:nvSpPr>
        <p:spPr>
          <a:xfrm>
            <a:off x="457200" y="892076"/>
            <a:ext cx="8636000" cy="257175"/>
          </a:xfrm>
          <a:prstGeom prst="rect">
            <a:avLst/>
          </a:prstGeom>
          <a:noFill/>
          <a:ln/>
        </p:spPr>
        <p:txBody>
          <a:bodyPr wrap="square" lIns="0" tIns="0" rIns="0" bIns="0" rtlCol="0" anchor="t"/>
          <a:lstStyle/>
          <a:p>
            <a:pPr algn="l" indent="0" marL="0">
              <a:spcAft>
                <a:spcPts val="1800"/>
              </a:spcAft>
              <a:buNone/>
            </a:pPr>
            <a:r>
              <a:rPr lang="en-US" sz="1600" i="1" dirty="0">
                <a:solidFill>
                  <a:srgbClr val="6B5443"/>
                </a:solidFill>
                <a:latin typeface="Corbel" pitchFamily="34" charset="0"/>
                <a:ea typeface="Corbel" pitchFamily="34" charset="-122"/>
                <a:cs typeface="Corbel" pitchFamily="34" charset="-120"/>
              </a:rPr>
              <a:t>"You don't need more tactics. You need a mindset shift."</a:t>
            </a:r>
            <a:endParaRPr lang="en-US" sz="1600" dirty="0"/>
          </a:p>
        </p:txBody>
      </p:sp>
      <p:sp>
        <p:nvSpPr>
          <p:cNvPr id="6" name="Text 3"/>
          <p:cNvSpPr/>
          <p:nvPr/>
        </p:nvSpPr>
        <p:spPr>
          <a:xfrm>
            <a:off x="457200" y="1358801"/>
            <a:ext cx="2624733" cy="1268313"/>
          </a:xfrm>
          <a:prstGeom prst="roundRect">
            <a:avLst>
              <a:gd name="adj" fmla="val 4005"/>
            </a:avLst>
          </a:prstGeom>
          <a:solidFill>
            <a:srgbClr val="FFFFFF"/>
          </a:solidFill>
          <a:ln/>
        </p:spPr>
        <p:txBody>
          <a:bodyPr wrap="square" rtlCol="0" anchor="ctr"/>
          <a:lstStyle/>
          <a:p>
            <a:pPr indent="0" marL="0">
              <a:buNone/>
            </a:pPr>
            <a:endParaRPr lang="en-US" dirty="0"/>
          </a:p>
        </p:txBody>
      </p:sp>
      <p:sp>
        <p:nvSpPr>
          <p:cNvPr id="7" name="Shape 4"/>
          <p:cNvSpPr/>
          <p:nvPr/>
        </p:nvSpPr>
        <p:spPr>
          <a:xfrm>
            <a:off x="457200" y="1377851"/>
            <a:ext cx="2624733" cy="0"/>
          </a:xfrm>
          <a:prstGeom prst="line">
            <a:avLst/>
          </a:prstGeom>
          <a:noFill/>
          <a:ln w="38100">
            <a:solidFill>
              <a:srgbClr val="C09E30"/>
            </a:solidFill>
            <a:prstDash val="solid"/>
          </a:ln>
        </p:spPr>
      </p:sp>
      <p:sp>
        <p:nvSpPr>
          <p:cNvPr id="8" name="Shape 5"/>
          <p:cNvSpPr/>
          <p:nvPr/>
        </p:nvSpPr>
        <p:spPr>
          <a:xfrm>
            <a:off x="3077170" y="1358801"/>
            <a:ext cx="0" cy="1268313"/>
          </a:xfrm>
          <a:prstGeom prst="line">
            <a:avLst/>
          </a:prstGeom>
          <a:noFill/>
          <a:ln w="9525">
            <a:solidFill>
              <a:srgbClr val="CEBFB5"/>
            </a:solidFill>
            <a:prstDash val="solid"/>
          </a:ln>
        </p:spPr>
      </p:sp>
      <p:sp>
        <p:nvSpPr>
          <p:cNvPr id="9" name="Shape 6"/>
          <p:cNvSpPr/>
          <p:nvPr/>
        </p:nvSpPr>
        <p:spPr>
          <a:xfrm>
            <a:off x="457200" y="2622352"/>
            <a:ext cx="2624733" cy="0"/>
          </a:xfrm>
          <a:prstGeom prst="line">
            <a:avLst/>
          </a:prstGeom>
          <a:noFill/>
          <a:ln w="9525">
            <a:solidFill>
              <a:srgbClr val="CEBFB5"/>
            </a:solidFill>
            <a:prstDash val="solid"/>
          </a:ln>
        </p:spPr>
      </p:sp>
      <p:sp>
        <p:nvSpPr>
          <p:cNvPr id="10" name="Shape 7"/>
          <p:cNvSpPr/>
          <p:nvPr/>
        </p:nvSpPr>
        <p:spPr>
          <a:xfrm>
            <a:off x="461963" y="1358801"/>
            <a:ext cx="0" cy="1268313"/>
          </a:xfrm>
          <a:prstGeom prst="line">
            <a:avLst/>
          </a:prstGeom>
          <a:noFill/>
          <a:ln w="9525">
            <a:solidFill>
              <a:srgbClr val="CEBFB5"/>
            </a:solidFill>
            <a:prstDash val="solid"/>
          </a:ln>
        </p:spPr>
      </p:sp>
      <p:sp>
        <p:nvSpPr>
          <p:cNvPr id="11" name="Text 8"/>
          <p:cNvSpPr/>
          <p:nvPr/>
        </p:nvSpPr>
        <p:spPr>
          <a:xfrm>
            <a:off x="644426" y="1574602"/>
            <a:ext cx="3150394" cy="216027"/>
          </a:xfrm>
          <a:prstGeom prst="rect">
            <a:avLst/>
          </a:prstGeom>
          <a:noFill/>
          <a:ln/>
        </p:spPr>
        <p:txBody>
          <a:bodyPr wrap="none" lIns="0" tIns="0" rIns="0" bIns="0" rtlCol="0" anchor="t"/>
          <a:lstStyle/>
          <a:p>
            <a:pPr algn="l" indent="0" marL="0">
              <a:spcAft>
                <a:spcPts val="400"/>
              </a:spcAft>
              <a:buNone/>
            </a:pPr>
            <a:r>
              <a:rPr lang="en-US" sz="1300" b="1" dirty="0">
                <a:solidFill>
                  <a:srgbClr val="C09E30"/>
                </a:solidFill>
                <a:latin typeface="Corbel" pitchFamily="34" charset="0"/>
                <a:ea typeface="Corbel" pitchFamily="34" charset="-122"/>
                <a:cs typeface="Corbel" pitchFamily="34" charset="-120"/>
              </a:rPr>
              <a:t>3 PILLARS</a:t>
            </a:r>
            <a:endParaRPr lang="en-US" sz="1300" dirty="0"/>
          </a:p>
        </p:txBody>
      </p:sp>
      <p:sp>
        <p:nvSpPr>
          <p:cNvPr id="12" name="Text 9"/>
          <p:cNvSpPr/>
          <p:nvPr/>
        </p:nvSpPr>
        <p:spPr>
          <a:xfrm>
            <a:off x="644426" y="1825377"/>
            <a:ext cx="2362795" cy="690997"/>
          </a:xfrm>
          <a:prstGeom prst="rect">
            <a:avLst/>
          </a:prstGeom>
          <a:noFill/>
          <a:ln/>
        </p:spPr>
        <p:txBody>
          <a:bodyPr wrap="square" lIns="0" tIns="0" rIns="0" bIns="0" rtlCol="0" anchor="t"/>
          <a:lstStyle/>
          <a:p>
            <a:pPr algn="l" indent="0" marL="0">
              <a:lnSpc>
                <a:spcPts val="1680"/>
              </a:lnSpc>
              <a:buNone/>
            </a:pPr>
            <a:r>
              <a:rPr lang="en-US" sz="1200" dirty="0">
                <a:solidFill>
                  <a:srgbClr val="3C2415"/>
                </a:solidFill>
                <a:latin typeface="Corbel" pitchFamily="34" charset="0"/>
                <a:ea typeface="Corbel" pitchFamily="34" charset="-122"/>
                <a:cs typeface="Corbel" pitchFamily="34" charset="-120"/>
              </a:rPr>
              <a:t>Fix the Blame, Own Your Words, and anchor everything in Faith + Framework.</a:t>
            </a:r>
            <a:endParaRPr lang="en-US" sz="1200" dirty="0"/>
          </a:p>
        </p:txBody>
      </p:sp>
      <p:sp>
        <p:nvSpPr>
          <p:cNvPr id="13" name="Text 10"/>
          <p:cNvSpPr/>
          <p:nvPr/>
        </p:nvSpPr>
        <p:spPr>
          <a:xfrm>
            <a:off x="3259634" y="1358801"/>
            <a:ext cx="2624733" cy="1268313"/>
          </a:xfrm>
          <a:prstGeom prst="roundRect">
            <a:avLst>
              <a:gd name="adj" fmla="val 4005"/>
            </a:avLst>
          </a:prstGeom>
          <a:solidFill>
            <a:srgbClr val="FFFFFF"/>
          </a:solidFill>
          <a:ln/>
        </p:spPr>
        <p:txBody>
          <a:bodyPr wrap="square" rtlCol="0" anchor="ctr"/>
          <a:lstStyle/>
          <a:p>
            <a:pPr indent="0" marL="0">
              <a:buNone/>
            </a:pPr>
            <a:endParaRPr lang="en-US" dirty="0"/>
          </a:p>
        </p:txBody>
      </p:sp>
      <p:sp>
        <p:nvSpPr>
          <p:cNvPr id="14" name="Shape 11"/>
          <p:cNvSpPr/>
          <p:nvPr/>
        </p:nvSpPr>
        <p:spPr>
          <a:xfrm>
            <a:off x="3259634" y="1377851"/>
            <a:ext cx="2624733" cy="0"/>
          </a:xfrm>
          <a:prstGeom prst="line">
            <a:avLst/>
          </a:prstGeom>
          <a:noFill/>
          <a:ln w="38100">
            <a:solidFill>
              <a:srgbClr val="C09E30"/>
            </a:solidFill>
            <a:prstDash val="solid"/>
          </a:ln>
        </p:spPr>
      </p:sp>
      <p:sp>
        <p:nvSpPr>
          <p:cNvPr id="15" name="Shape 12"/>
          <p:cNvSpPr/>
          <p:nvPr/>
        </p:nvSpPr>
        <p:spPr>
          <a:xfrm>
            <a:off x="5879604" y="1358801"/>
            <a:ext cx="0" cy="1268313"/>
          </a:xfrm>
          <a:prstGeom prst="line">
            <a:avLst/>
          </a:prstGeom>
          <a:noFill/>
          <a:ln w="9525">
            <a:solidFill>
              <a:srgbClr val="CEBFB5"/>
            </a:solidFill>
            <a:prstDash val="solid"/>
          </a:ln>
        </p:spPr>
      </p:sp>
      <p:sp>
        <p:nvSpPr>
          <p:cNvPr id="16" name="Shape 13"/>
          <p:cNvSpPr/>
          <p:nvPr/>
        </p:nvSpPr>
        <p:spPr>
          <a:xfrm>
            <a:off x="3259634" y="2622352"/>
            <a:ext cx="2624733" cy="0"/>
          </a:xfrm>
          <a:prstGeom prst="line">
            <a:avLst/>
          </a:prstGeom>
          <a:noFill/>
          <a:ln w="9525">
            <a:solidFill>
              <a:srgbClr val="CEBFB5"/>
            </a:solidFill>
            <a:prstDash val="solid"/>
          </a:ln>
        </p:spPr>
      </p:sp>
      <p:sp>
        <p:nvSpPr>
          <p:cNvPr id="17" name="Shape 14"/>
          <p:cNvSpPr/>
          <p:nvPr/>
        </p:nvSpPr>
        <p:spPr>
          <a:xfrm>
            <a:off x="3264396" y="1358801"/>
            <a:ext cx="0" cy="1268313"/>
          </a:xfrm>
          <a:prstGeom prst="line">
            <a:avLst/>
          </a:prstGeom>
          <a:noFill/>
          <a:ln w="9525">
            <a:solidFill>
              <a:srgbClr val="CEBFB5"/>
            </a:solidFill>
            <a:prstDash val="solid"/>
          </a:ln>
        </p:spPr>
      </p:sp>
      <p:sp>
        <p:nvSpPr>
          <p:cNvPr id="18" name="Text 15"/>
          <p:cNvSpPr/>
          <p:nvPr/>
        </p:nvSpPr>
        <p:spPr>
          <a:xfrm>
            <a:off x="3446859" y="1574602"/>
            <a:ext cx="2992874" cy="216027"/>
          </a:xfrm>
          <a:prstGeom prst="rect">
            <a:avLst/>
          </a:prstGeom>
          <a:noFill/>
          <a:ln/>
        </p:spPr>
        <p:txBody>
          <a:bodyPr wrap="none" lIns="0" tIns="0" rIns="0" bIns="0" rtlCol="0" anchor="t"/>
          <a:lstStyle/>
          <a:p>
            <a:pPr algn="l" indent="0" marL="0">
              <a:spcAft>
                <a:spcPts val="400"/>
              </a:spcAft>
              <a:buNone/>
            </a:pPr>
            <a:r>
              <a:rPr lang="en-US" sz="1300" b="1" dirty="0">
                <a:solidFill>
                  <a:srgbClr val="C09E30"/>
                </a:solidFill>
                <a:latin typeface="Corbel" pitchFamily="34" charset="0"/>
                <a:ea typeface="Corbel" pitchFamily="34" charset="-122"/>
                <a:cs typeface="Corbel" pitchFamily="34" charset="-120"/>
              </a:rPr>
              <a:t>OWNERSHIP SCRIPT</a:t>
            </a:r>
            <a:endParaRPr lang="en-US" sz="1300" dirty="0"/>
          </a:p>
        </p:txBody>
      </p:sp>
      <p:sp>
        <p:nvSpPr>
          <p:cNvPr id="19" name="Text 16"/>
          <p:cNvSpPr/>
          <p:nvPr/>
        </p:nvSpPr>
        <p:spPr>
          <a:xfrm>
            <a:off x="3446859" y="1825377"/>
            <a:ext cx="2362795" cy="690997"/>
          </a:xfrm>
          <a:prstGeom prst="rect">
            <a:avLst/>
          </a:prstGeom>
          <a:noFill/>
          <a:ln/>
        </p:spPr>
        <p:txBody>
          <a:bodyPr wrap="square" lIns="0" tIns="0" rIns="0" bIns="0" rtlCol="0" anchor="t"/>
          <a:lstStyle/>
          <a:p>
            <a:pPr algn="l" indent="0" marL="0">
              <a:lnSpc>
                <a:spcPts val="1680"/>
              </a:lnSpc>
              <a:buNone/>
            </a:pPr>
            <a:r>
              <a:rPr lang="en-US" sz="1200" dirty="0">
                <a:solidFill>
                  <a:srgbClr val="3C2415"/>
                </a:solidFill>
                <a:latin typeface="Corbel" pitchFamily="34" charset="0"/>
                <a:ea typeface="Corbel" pitchFamily="34" charset="-122"/>
                <a:cs typeface="Corbel" pitchFamily="34" charset="-120"/>
              </a:rPr>
              <a:t>Ready-made phrases for clients, teams, and yourself — when it matters most.</a:t>
            </a:r>
            <a:endParaRPr lang="en-US" sz="1200" dirty="0"/>
          </a:p>
        </p:txBody>
      </p:sp>
      <p:sp>
        <p:nvSpPr>
          <p:cNvPr id="20" name="Text 17"/>
          <p:cNvSpPr/>
          <p:nvPr/>
        </p:nvSpPr>
        <p:spPr>
          <a:xfrm>
            <a:off x="6062067" y="1358801"/>
            <a:ext cx="2624733" cy="1268313"/>
          </a:xfrm>
          <a:prstGeom prst="roundRect">
            <a:avLst>
              <a:gd name="adj" fmla="val 4005"/>
            </a:avLst>
          </a:prstGeom>
          <a:solidFill>
            <a:srgbClr val="FFFFFF"/>
          </a:solidFill>
          <a:ln/>
        </p:spPr>
        <p:txBody>
          <a:bodyPr wrap="square" rtlCol="0" anchor="ctr"/>
          <a:lstStyle/>
          <a:p>
            <a:pPr indent="0" marL="0">
              <a:buNone/>
            </a:pPr>
            <a:endParaRPr lang="en-US" dirty="0"/>
          </a:p>
        </p:txBody>
      </p:sp>
      <p:sp>
        <p:nvSpPr>
          <p:cNvPr id="21" name="Shape 18"/>
          <p:cNvSpPr/>
          <p:nvPr/>
        </p:nvSpPr>
        <p:spPr>
          <a:xfrm>
            <a:off x="6062067" y="1377851"/>
            <a:ext cx="2624733" cy="0"/>
          </a:xfrm>
          <a:prstGeom prst="line">
            <a:avLst/>
          </a:prstGeom>
          <a:noFill/>
          <a:ln w="38100">
            <a:solidFill>
              <a:srgbClr val="C09E30"/>
            </a:solidFill>
            <a:prstDash val="solid"/>
          </a:ln>
        </p:spPr>
      </p:sp>
      <p:sp>
        <p:nvSpPr>
          <p:cNvPr id="22" name="Shape 19"/>
          <p:cNvSpPr/>
          <p:nvPr/>
        </p:nvSpPr>
        <p:spPr>
          <a:xfrm>
            <a:off x="8682038" y="1358801"/>
            <a:ext cx="0" cy="1268313"/>
          </a:xfrm>
          <a:prstGeom prst="line">
            <a:avLst/>
          </a:prstGeom>
          <a:noFill/>
          <a:ln w="9525">
            <a:solidFill>
              <a:srgbClr val="CEBFB5"/>
            </a:solidFill>
            <a:prstDash val="solid"/>
          </a:ln>
        </p:spPr>
      </p:sp>
      <p:sp>
        <p:nvSpPr>
          <p:cNvPr id="23" name="Shape 20"/>
          <p:cNvSpPr/>
          <p:nvPr/>
        </p:nvSpPr>
        <p:spPr>
          <a:xfrm>
            <a:off x="6062067" y="2622352"/>
            <a:ext cx="2624733" cy="0"/>
          </a:xfrm>
          <a:prstGeom prst="line">
            <a:avLst/>
          </a:prstGeom>
          <a:noFill/>
          <a:ln w="9525">
            <a:solidFill>
              <a:srgbClr val="CEBFB5"/>
            </a:solidFill>
            <a:prstDash val="solid"/>
          </a:ln>
        </p:spPr>
      </p:sp>
      <p:sp>
        <p:nvSpPr>
          <p:cNvPr id="24" name="Shape 21"/>
          <p:cNvSpPr/>
          <p:nvPr/>
        </p:nvSpPr>
        <p:spPr>
          <a:xfrm>
            <a:off x="6066830" y="1358801"/>
            <a:ext cx="0" cy="1268313"/>
          </a:xfrm>
          <a:prstGeom prst="line">
            <a:avLst/>
          </a:prstGeom>
          <a:noFill/>
          <a:ln w="9525">
            <a:solidFill>
              <a:srgbClr val="CEBFB5"/>
            </a:solidFill>
            <a:prstDash val="solid"/>
          </a:ln>
        </p:spPr>
      </p:sp>
      <p:sp>
        <p:nvSpPr>
          <p:cNvPr id="25" name="Text 22"/>
          <p:cNvSpPr/>
          <p:nvPr/>
        </p:nvSpPr>
        <p:spPr>
          <a:xfrm>
            <a:off x="6249293" y="1574602"/>
            <a:ext cx="2894707" cy="216027"/>
          </a:xfrm>
          <a:prstGeom prst="rect">
            <a:avLst/>
          </a:prstGeom>
          <a:noFill/>
          <a:ln/>
        </p:spPr>
        <p:txBody>
          <a:bodyPr wrap="none" lIns="0" tIns="0" rIns="0" bIns="0" rtlCol="0" anchor="t"/>
          <a:lstStyle/>
          <a:p>
            <a:pPr algn="l" indent="0" marL="0">
              <a:spcAft>
                <a:spcPts val="400"/>
              </a:spcAft>
              <a:buNone/>
            </a:pPr>
            <a:r>
              <a:rPr lang="en-US" sz="1300" b="1" dirty="0">
                <a:solidFill>
                  <a:srgbClr val="C09E30"/>
                </a:solidFill>
                <a:latin typeface="Corbel" pitchFamily="34" charset="0"/>
                <a:ea typeface="Corbel" pitchFamily="34" charset="-122"/>
                <a:cs typeface="Corbel" pitchFamily="34" charset="-120"/>
              </a:rPr>
              <a:t>WEEKLY RESET</a:t>
            </a:r>
            <a:endParaRPr lang="en-US" sz="1300" dirty="0"/>
          </a:p>
        </p:txBody>
      </p:sp>
      <p:sp>
        <p:nvSpPr>
          <p:cNvPr id="26" name="Text 23"/>
          <p:cNvSpPr/>
          <p:nvPr/>
        </p:nvSpPr>
        <p:spPr>
          <a:xfrm>
            <a:off x="6249293" y="1825377"/>
            <a:ext cx="2362795" cy="690997"/>
          </a:xfrm>
          <a:prstGeom prst="rect">
            <a:avLst/>
          </a:prstGeom>
          <a:noFill/>
          <a:ln/>
        </p:spPr>
        <p:txBody>
          <a:bodyPr wrap="square" lIns="0" tIns="0" rIns="0" bIns="0" rtlCol="0" anchor="t"/>
          <a:lstStyle/>
          <a:p>
            <a:pPr algn="l" indent="0" marL="0">
              <a:lnSpc>
                <a:spcPts val="1680"/>
              </a:lnSpc>
              <a:buNone/>
            </a:pPr>
            <a:r>
              <a:rPr lang="en-US" sz="1200" dirty="0">
                <a:solidFill>
                  <a:srgbClr val="3C2415"/>
                </a:solidFill>
                <a:latin typeface="Corbel" pitchFamily="34" charset="0"/>
                <a:ea typeface="Corbel" pitchFamily="34" charset="-122"/>
                <a:cs typeface="Corbel" pitchFamily="34" charset="-120"/>
              </a:rPr>
              <a:t>A 15-minute Friday ritual that keeps you accountable and moving forward.</a:t>
            </a:r>
            <a:endParaRPr lang="en-US" sz="1200" dirty="0"/>
          </a:p>
        </p:txBody>
      </p:sp>
      <p:sp>
        <p:nvSpPr>
          <p:cNvPr id="27" name="Text 24"/>
          <p:cNvSpPr/>
          <p:nvPr/>
        </p:nvSpPr>
        <p:spPr>
          <a:xfrm>
            <a:off x="457200" y="2855714"/>
            <a:ext cx="8229600" cy="680442"/>
          </a:xfrm>
          <a:prstGeom prst="rect">
            <a:avLst/>
          </a:prstGeom>
          <a:solidFill>
            <a:srgbClr val="E9E2DC"/>
          </a:solidFill>
          <a:ln/>
        </p:spPr>
        <p:txBody>
          <a:bodyPr wrap="square" rtlCol="0" anchor="ctr"/>
          <a:lstStyle/>
          <a:p>
            <a:pPr indent="0" marL="0">
              <a:buNone/>
            </a:pPr>
            <a:endParaRPr lang="en-US" dirty="0"/>
          </a:p>
        </p:txBody>
      </p:sp>
      <p:sp>
        <p:nvSpPr>
          <p:cNvPr id="28" name="Shape 25"/>
          <p:cNvSpPr/>
          <p:nvPr/>
        </p:nvSpPr>
        <p:spPr>
          <a:xfrm>
            <a:off x="481012" y="2855714"/>
            <a:ext cx="0" cy="680442"/>
          </a:xfrm>
          <a:prstGeom prst="line">
            <a:avLst/>
          </a:prstGeom>
          <a:noFill/>
          <a:ln w="47625">
            <a:solidFill>
              <a:srgbClr val="D4766A"/>
            </a:solidFill>
            <a:prstDash val="solid"/>
          </a:ln>
        </p:spPr>
      </p:sp>
      <p:sp>
        <p:nvSpPr>
          <p:cNvPr id="29" name="Text 26"/>
          <p:cNvSpPr/>
          <p:nvPr/>
        </p:nvSpPr>
        <p:spPr>
          <a:xfrm>
            <a:off x="707975" y="2982664"/>
            <a:ext cx="8164458" cy="460665"/>
          </a:xfrm>
          <a:prstGeom prst="rect">
            <a:avLst/>
          </a:prstGeom>
          <a:noFill/>
          <a:ln/>
        </p:spPr>
        <p:txBody>
          <a:bodyPr wrap="square" lIns="0" tIns="0" rIns="0" bIns="0" rtlCol="0" anchor="t"/>
          <a:lstStyle/>
          <a:p>
            <a:pPr algn="l" indent="0" marL="0">
              <a:lnSpc>
                <a:spcPts val="1680"/>
              </a:lnSpc>
              <a:buNone/>
            </a:pPr>
            <a:r>
              <a:rPr lang="en-US" sz="1200" b="1" dirty="0">
                <a:solidFill>
                  <a:srgbClr val="D4766A"/>
                </a:solidFill>
                <a:latin typeface="Corbel" pitchFamily="34" charset="0"/>
                <a:ea typeface="Corbel" pitchFamily="34" charset="-122"/>
                <a:cs typeface="Corbel" pitchFamily="34" charset="-120"/>
              </a:rPr>
              <a:t>Faith-Driven:</a:t>
            </a:r>
            <a:pPr algn="l" indent="0" marL="0">
              <a:lnSpc>
                <a:spcPts val="1680"/>
              </a:lnSpc>
              <a:buNone/>
            </a:pPr>
            <a:r>
              <a:rPr lang="en-US" sz="1200" dirty="0">
                <a:solidFill>
                  <a:srgbClr val="3C2415"/>
                </a:solidFill>
                <a:latin typeface="Corbel" pitchFamily="34" charset="0"/>
                <a:ea typeface="Corbel" pitchFamily="34" charset="-122"/>
                <a:cs typeface="Corbel" pitchFamily="34" charset="-120"/>
              </a:rPr>
              <a:t> This playbook is built on the conviction that accountability begins with stewardship — not self-reliance. Every framework here points back to purpose.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07827"/>
          </a:xfrm>
          <a:prstGeom prst="rect">
            <a:avLst/>
          </a:prstGeom>
          <a:solidFill>
            <a:srgbClr val="2D1B10"/>
          </a:solidFill>
          <a:ln/>
        </p:spPr>
        <p:txBody>
          <a:bodyPr wrap="square" rtlCol="0" anchor="ctr"/>
          <a:lstStyle/>
          <a:p>
            <a:pPr indent="0" marL="0">
              <a:buNone/>
            </a:pPr>
            <a:endParaRPr lang="en-US" dirty="0"/>
          </a:p>
        </p:txBody>
      </p:sp>
      <p:sp>
        <p:nvSpPr>
          <p:cNvPr id="3" name="Text 1"/>
          <p:cNvSpPr/>
          <p:nvPr/>
        </p:nvSpPr>
        <p:spPr>
          <a:xfrm>
            <a:off x="457200" y="239613"/>
            <a:ext cx="1128564" cy="228600"/>
          </a:xfrm>
          <a:prstGeom prst="roundRect">
            <a:avLst>
              <a:gd name="adj" fmla="val 11111"/>
            </a:avLst>
          </a:prstGeom>
          <a:solidFill>
            <a:srgbClr val="C09E30"/>
          </a:solidFill>
          <a:ln/>
        </p:spPr>
        <p:txBody>
          <a:bodyPr wrap="square" rtlCol="0" anchor="ctr"/>
          <a:lstStyle/>
          <a:p>
            <a:pPr indent="0" marL="0">
              <a:buNone/>
            </a:pPr>
            <a:endParaRPr lang="en-US" dirty="0"/>
          </a:p>
        </p:txBody>
      </p:sp>
      <p:sp>
        <p:nvSpPr>
          <p:cNvPr id="4" name="Text 2"/>
          <p:cNvSpPr/>
          <p:nvPr/>
        </p:nvSpPr>
        <p:spPr>
          <a:xfrm>
            <a:off x="609600" y="277713"/>
            <a:ext cx="1153269" cy="164592"/>
          </a:xfrm>
          <a:prstGeom prst="rect">
            <a:avLst/>
          </a:prstGeom>
          <a:noFill/>
          <a:ln/>
        </p:spPr>
        <p:txBody>
          <a:bodyPr wrap="none" lIns="0" tIns="0" rIns="0" bIns="0" rtlCol="0" anchor="t"/>
          <a:lstStyle/>
          <a:p>
            <a:pPr algn="l" indent="0" marL="0">
              <a:buNone/>
            </a:pPr>
            <a:r>
              <a:rPr lang="en-US" sz="1100" b="1" spc="200" kern="0" dirty="0">
                <a:solidFill>
                  <a:srgbClr val="1E120A"/>
                </a:solidFill>
                <a:latin typeface="Corbel" pitchFamily="34" charset="0"/>
                <a:ea typeface="Corbel" pitchFamily="34" charset="-122"/>
                <a:cs typeface="Corbel" pitchFamily="34" charset="-120"/>
              </a:rPr>
              <a:t>PILLAR 1</a:t>
            </a:r>
            <a:endParaRPr lang="en-US" sz="1100" dirty="0"/>
          </a:p>
        </p:txBody>
      </p:sp>
      <p:sp>
        <p:nvSpPr>
          <p:cNvPr id="5" name="Text 3"/>
          <p:cNvSpPr/>
          <p:nvPr/>
        </p:nvSpPr>
        <p:spPr>
          <a:xfrm>
            <a:off x="1763464" y="177701"/>
            <a:ext cx="5751761" cy="380619"/>
          </a:xfrm>
          <a:prstGeom prst="rect">
            <a:avLst/>
          </a:prstGeom>
          <a:noFill/>
          <a:ln/>
        </p:spPr>
        <p:txBody>
          <a:bodyPr wrap="none" lIns="0" tIns="0" rIns="0" bIns="0" rtlCol="0" anchor="t"/>
          <a:lstStyle/>
          <a:p>
            <a:pPr algn="l" indent="0" marL="0">
              <a:buNone/>
            </a:pPr>
            <a:r>
              <a:rPr lang="en-US" sz="2400" b="1" dirty="0">
                <a:solidFill>
                  <a:srgbClr val="FFFFFF"/>
                </a:solidFill>
                <a:latin typeface="Palatino Linotype" pitchFamily="34" charset="0"/>
                <a:ea typeface="Palatino Linotype" pitchFamily="34" charset="-122"/>
                <a:cs typeface="Palatino Linotype" pitchFamily="34" charset="-120"/>
              </a:rPr>
              <a:t>Fix the Problem, Not the Blame</a:t>
            </a:r>
            <a:endParaRPr lang="en-US" sz="2400" dirty="0"/>
          </a:p>
        </p:txBody>
      </p:sp>
      <p:sp>
        <p:nvSpPr>
          <p:cNvPr id="6" name="Text 4"/>
          <p:cNvSpPr/>
          <p:nvPr/>
        </p:nvSpPr>
        <p:spPr>
          <a:xfrm>
            <a:off x="507950" y="987177"/>
            <a:ext cx="8128099" cy="964704"/>
          </a:xfrm>
          <a:prstGeom prst="rect">
            <a:avLst/>
          </a:prstGeom>
          <a:solidFill>
            <a:srgbClr val="F5F2F0"/>
          </a:solidFill>
          <a:ln/>
        </p:spPr>
        <p:txBody>
          <a:bodyPr wrap="square" rtlCol="0" anchor="ctr"/>
          <a:lstStyle/>
          <a:p>
            <a:pPr indent="0" marL="0">
              <a:buNone/>
            </a:pPr>
            <a:endParaRPr lang="en-US" dirty="0"/>
          </a:p>
        </p:txBody>
      </p:sp>
      <p:sp>
        <p:nvSpPr>
          <p:cNvPr id="7" name="Shape 5"/>
          <p:cNvSpPr/>
          <p:nvPr/>
        </p:nvSpPr>
        <p:spPr>
          <a:xfrm>
            <a:off x="536525" y="987177"/>
            <a:ext cx="0" cy="964704"/>
          </a:xfrm>
          <a:prstGeom prst="line">
            <a:avLst/>
          </a:prstGeom>
          <a:noFill/>
          <a:ln w="57150">
            <a:solidFill>
              <a:srgbClr val="C09E30"/>
            </a:solidFill>
            <a:prstDash val="solid"/>
          </a:ln>
        </p:spPr>
      </p:sp>
      <p:sp>
        <p:nvSpPr>
          <p:cNvPr id="8" name="Text 6"/>
          <p:cNvSpPr/>
          <p:nvPr/>
        </p:nvSpPr>
        <p:spPr>
          <a:xfrm>
            <a:off x="819001" y="1164878"/>
            <a:ext cx="7941305" cy="658047"/>
          </a:xfrm>
          <a:prstGeom prst="rect">
            <a:avLst/>
          </a:prstGeom>
          <a:noFill/>
          <a:ln/>
        </p:spPr>
        <p:txBody>
          <a:bodyPr wrap="square" lIns="0" tIns="0" rIns="0" bIns="0" rtlCol="0" anchor="t"/>
          <a:lstStyle/>
          <a:p>
            <a:pPr algn="l" indent="0" marL="0">
              <a:lnSpc>
                <a:spcPts val="2400"/>
              </a:lnSpc>
              <a:buNone/>
            </a:pPr>
            <a:r>
              <a:rPr lang="en-US" sz="1600" i="1" dirty="0">
                <a:solidFill>
                  <a:srgbClr val="3C2415"/>
                </a:solidFill>
                <a:latin typeface="Palatino Linotype" pitchFamily="34" charset="0"/>
                <a:ea typeface="Palatino Linotype" pitchFamily="34" charset="-122"/>
                <a:cs typeface="Palatino Linotype" pitchFamily="34" charset="-120"/>
              </a:rPr>
              <a:t>"When something goes wrong, the first question out of your mouth must never be 'Whose fault is this?' — it must be 'What do I own, and what's my next move?'"</a:t>
            </a:r>
            <a:endParaRPr lang="en-US" sz="1600" dirty="0"/>
          </a:p>
        </p:txBody>
      </p:sp>
      <p:sp>
        <p:nvSpPr>
          <p:cNvPr id="9" name="Text 7"/>
          <p:cNvSpPr/>
          <p:nvPr/>
        </p:nvSpPr>
        <p:spPr>
          <a:xfrm>
            <a:off x="507950" y="2205782"/>
            <a:ext cx="8128099" cy="998041"/>
          </a:xfrm>
          <a:prstGeom prst="roundRect">
            <a:avLst>
              <a:gd name="adj" fmla="val 5090"/>
            </a:avLst>
          </a:prstGeom>
          <a:solidFill>
            <a:srgbClr val="FFFFFF"/>
          </a:solidFill>
          <a:ln/>
        </p:spPr>
        <p:txBody>
          <a:bodyPr wrap="square" rtlCol="0" anchor="ctr"/>
          <a:lstStyle/>
          <a:p>
            <a:pPr indent="0" marL="0">
              <a:buNone/>
            </a:pPr>
            <a:endParaRPr lang="en-US" dirty="0"/>
          </a:p>
        </p:txBody>
      </p:sp>
      <p:sp>
        <p:nvSpPr>
          <p:cNvPr id="10" name="Shape 8"/>
          <p:cNvSpPr/>
          <p:nvPr/>
        </p:nvSpPr>
        <p:spPr>
          <a:xfrm>
            <a:off x="507950" y="2210544"/>
            <a:ext cx="8128099" cy="0"/>
          </a:xfrm>
          <a:prstGeom prst="line">
            <a:avLst/>
          </a:prstGeom>
          <a:noFill/>
          <a:ln w="9525">
            <a:solidFill>
              <a:srgbClr val="CEBFB5"/>
            </a:solidFill>
            <a:prstDash val="solid"/>
          </a:ln>
        </p:spPr>
      </p:sp>
      <p:sp>
        <p:nvSpPr>
          <p:cNvPr id="11" name="Shape 9"/>
          <p:cNvSpPr/>
          <p:nvPr/>
        </p:nvSpPr>
        <p:spPr>
          <a:xfrm>
            <a:off x="8631287" y="2205782"/>
            <a:ext cx="0" cy="998041"/>
          </a:xfrm>
          <a:prstGeom prst="line">
            <a:avLst/>
          </a:prstGeom>
          <a:noFill/>
          <a:ln w="9525">
            <a:solidFill>
              <a:srgbClr val="CEBFB5"/>
            </a:solidFill>
            <a:prstDash val="solid"/>
          </a:ln>
        </p:spPr>
      </p:sp>
      <p:sp>
        <p:nvSpPr>
          <p:cNvPr id="12" name="Shape 10"/>
          <p:cNvSpPr/>
          <p:nvPr/>
        </p:nvSpPr>
        <p:spPr>
          <a:xfrm>
            <a:off x="507950" y="3199061"/>
            <a:ext cx="8128099" cy="0"/>
          </a:xfrm>
          <a:prstGeom prst="line">
            <a:avLst/>
          </a:prstGeom>
          <a:noFill/>
          <a:ln w="9525">
            <a:solidFill>
              <a:srgbClr val="CEBFB5"/>
            </a:solidFill>
            <a:prstDash val="solid"/>
          </a:ln>
        </p:spPr>
      </p:sp>
      <p:sp>
        <p:nvSpPr>
          <p:cNvPr id="13" name="Shape 11"/>
          <p:cNvSpPr/>
          <p:nvPr/>
        </p:nvSpPr>
        <p:spPr>
          <a:xfrm>
            <a:off x="531763" y="2205782"/>
            <a:ext cx="0" cy="998041"/>
          </a:xfrm>
          <a:prstGeom prst="line">
            <a:avLst/>
          </a:prstGeom>
          <a:noFill/>
          <a:ln w="47625">
            <a:solidFill>
              <a:srgbClr val="C09E30"/>
            </a:solidFill>
            <a:prstDash val="solid"/>
          </a:ln>
        </p:spPr>
      </p:sp>
      <p:sp>
        <p:nvSpPr>
          <p:cNvPr id="14" name="Text 12"/>
          <p:cNvSpPr/>
          <p:nvPr/>
        </p:nvSpPr>
        <p:spPr>
          <a:xfrm>
            <a:off x="758726" y="2367707"/>
            <a:ext cx="355550" cy="355550"/>
          </a:xfrm>
          <a:prstGeom prst="roundRect">
            <a:avLst>
              <a:gd name="adj" fmla="val 257179"/>
            </a:avLst>
          </a:prstGeom>
          <a:solidFill>
            <a:srgbClr val="C09E30"/>
          </a:solidFill>
          <a:ln/>
        </p:spPr>
        <p:txBody>
          <a:bodyPr wrap="square" rtlCol="0" anchor="ctr"/>
          <a:lstStyle/>
          <a:p>
            <a:pPr indent="0" marL="0">
              <a:buNone/>
            </a:pPr>
            <a:endParaRPr lang="en-US" dirty="0"/>
          </a:p>
        </p:txBody>
      </p:sp>
      <p:sp>
        <p:nvSpPr>
          <p:cNvPr id="15" name="Text 13"/>
          <p:cNvSpPr/>
          <p:nvPr/>
        </p:nvSpPr>
        <p:spPr>
          <a:xfrm>
            <a:off x="868211" y="2440632"/>
            <a:ext cx="136580" cy="226314"/>
          </a:xfrm>
          <a:prstGeom prst="rect">
            <a:avLst/>
          </a:prstGeom>
          <a:noFill/>
          <a:ln/>
        </p:spPr>
        <p:txBody>
          <a:bodyPr wrap="square" lIns="0" tIns="0" rIns="0" bIns="0" rtlCol="0" anchor="t"/>
          <a:lstStyle/>
          <a:p>
            <a:pPr algn="ctr" indent="0" marL="0">
              <a:buNone/>
            </a:pPr>
            <a:r>
              <a:rPr lang="en-US" sz="1400" b="1" dirty="0">
                <a:solidFill>
                  <a:srgbClr val="1E120A"/>
                </a:solidFill>
                <a:latin typeface="Corbel" pitchFamily="34" charset="0"/>
                <a:ea typeface="Corbel" pitchFamily="34" charset="-122"/>
                <a:cs typeface="Corbel" pitchFamily="34" charset="-120"/>
              </a:rPr>
              <a:t>1</a:t>
            </a:r>
            <a:endParaRPr lang="en-US" sz="1400" dirty="0"/>
          </a:p>
        </p:txBody>
      </p:sp>
      <p:sp>
        <p:nvSpPr>
          <p:cNvPr id="16" name="Text 14"/>
          <p:cNvSpPr/>
          <p:nvPr/>
        </p:nvSpPr>
        <p:spPr>
          <a:xfrm>
            <a:off x="1266676" y="2367707"/>
            <a:ext cx="7872368" cy="226314"/>
          </a:xfrm>
          <a:prstGeom prst="rect">
            <a:avLst/>
          </a:prstGeom>
          <a:noFill/>
          <a:ln/>
        </p:spPr>
        <p:txBody>
          <a:bodyPr wrap="square" lIns="0" tIns="0" rIns="0" bIns="0" rtlCol="0" anchor="t"/>
          <a:lstStyle/>
          <a:p>
            <a:pPr algn="l" indent="0" marL="0">
              <a:spcAft>
                <a:spcPts val="300"/>
              </a:spcAft>
              <a:buNone/>
            </a:pPr>
            <a:r>
              <a:rPr lang="en-US" sz="1400" b="1" dirty="0">
                <a:solidFill>
                  <a:srgbClr val="3C2415"/>
                </a:solidFill>
                <a:latin typeface="Corbel" pitchFamily="34" charset="0"/>
                <a:ea typeface="Corbel" pitchFamily="34" charset="-122"/>
                <a:cs typeface="Corbel" pitchFamily="34" charset="-120"/>
              </a:rPr>
              <a:t>Identify What You Own</a:t>
            </a:r>
            <a:endParaRPr lang="en-US" sz="1400" dirty="0"/>
          </a:p>
        </p:txBody>
      </p:sp>
      <p:sp>
        <p:nvSpPr>
          <p:cNvPr id="17" name="Text 15"/>
          <p:cNvSpPr/>
          <p:nvPr/>
        </p:nvSpPr>
        <p:spPr>
          <a:xfrm>
            <a:off x="1266676" y="2615357"/>
            <a:ext cx="7514533" cy="460665"/>
          </a:xfrm>
          <a:prstGeom prst="rect">
            <a:avLst/>
          </a:prstGeom>
          <a:noFill/>
          <a:ln/>
        </p:spPr>
        <p:txBody>
          <a:bodyPr wrap="square" lIns="0" tIns="0" rIns="0" bIns="0" rtlCol="0" anchor="t"/>
          <a:lstStyle/>
          <a:p>
            <a:pPr algn="l" indent="0" marL="0">
              <a:lnSpc>
                <a:spcPts val="1680"/>
              </a:lnSpc>
              <a:buNone/>
            </a:pPr>
            <a:r>
              <a:rPr lang="en-US" sz="1200" dirty="0">
                <a:solidFill>
                  <a:srgbClr val="6B5443"/>
                </a:solidFill>
                <a:latin typeface="Corbel" pitchFamily="34" charset="0"/>
                <a:ea typeface="Corbel" pitchFamily="34" charset="-122"/>
                <a:cs typeface="Corbel" pitchFamily="34" charset="-120"/>
              </a:rPr>
              <a:t>Before pointing outward, scan inward. Ask: "What part of this outcome did I create, allow, or fail to prevent?"</a:t>
            </a:r>
            <a:endParaRPr lang="en-US" sz="1200" dirty="0"/>
          </a:p>
        </p:txBody>
      </p:sp>
      <p:sp>
        <p:nvSpPr>
          <p:cNvPr id="18" name="Text 16"/>
          <p:cNvSpPr/>
          <p:nvPr/>
        </p:nvSpPr>
        <p:spPr>
          <a:xfrm>
            <a:off x="507950" y="3330773"/>
            <a:ext cx="8128099" cy="784771"/>
          </a:xfrm>
          <a:prstGeom prst="roundRect">
            <a:avLst>
              <a:gd name="adj" fmla="val 6473"/>
            </a:avLst>
          </a:prstGeom>
          <a:solidFill>
            <a:srgbClr val="FFFFFF"/>
          </a:solidFill>
          <a:ln/>
        </p:spPr>
        <p:txBody>
          <a:bodyPr wrap="square" rtlCol="0" anchor="ctr"/>
          <a:lstStyle/>
          <a:p>
            <a:pPr indent="0" marL="0">
              <a:buNone/>
            </a:pPr>
            <a:endParaRPr lang="en-US" dirty="0"/>
          </a:p>
        </p:txBody>
      </p:sp>
      <p:sp>
        <p:nvSpPr>
          <p:cNvPr id="19" name="Shape 17"/>
          <p:cNvSpPr/>
          <p:nvPr/>
        </p:nvSpPr>
        <p:spPr>
          <a:xfrm>
            <a:off x="507950" y="3335536"/>
            <a:ext cx="8128099" cy="0"/>
          </a:xfrm>
          <a:prstGeom prst="line">
            <a:avLst/>
          </a:prstGeom>
          <a:noFill/>
          <a:ln w="9525">
            <a:solidFill>
              <a:srgbClr val="CEBFB5"/>
            </a:solidFill>
            <a:prstDash val="solid"/>
          </a:ln>
        </p:spPr>
      </p:sp>
      <p:sp>
        <p:nvSpPr>
          <p:cNvPr id="20" name="Shape 18"/>
          <p:cNvSpPr/>
          <p:nvPr/>
        </p:nvSpPr>
        <p:spPr>
          <a:xfrm>
            <a:off x="8631287" y="3330773"/>
            <a:ext cx="0" cy="784771"/>
          </a:xfrm>
          <a:prstGeom prst="line">
            <a:avLst/>
          </a:prstGeom>
          <a:noFill/>
          <a:ln w="9525">
            <a:solidFill>
              <a:srgbClr val="CEBFB5"/>
            </a:solidFill>
            <a:prstDash val="solid"/>
          </a:ln>
        </p:spPr>
      </p:sp>
      <p:sp>
        <p:nvSpPr>
          <p:cNvPr id="21" name="Shape 19"/>
          <p:cNvSpPr/>
          <p:nvPr/>
        </p:nvSpPr>
        <p:spPr>
          <a:xfrm>
            <a:off x="507950" y="4110782"/>
            <a:ext cx="8128099" cy="0"/>
          </a:xfrm>
          <a:prstGeom prst="line">
            <a:avLst/>
          </a:prstGeom>
          <a:noFill/>
          <a:ln w="9525">
            <a:solidFill>
              <a:srgbClr val="CEBFB5"/>
            </a:solidFill>
            <a:prstDash val="solid"/>
          </a:ln>
        </p:spPr>
      </p:sp>
      <p:sp>
        <p:nvSpPr>
          <p:cNvPr id="22" name="Shape 20"/>
          <p:cNvSpPr/>
          <p:nvPr/>
        </p:nvSpPr>
        <p:spPr>
          <a:xfrm>
            <a:off x="531763" y="3330773"/>
            <a:ext cx="0" cy="784771"/>
          </a:xfrm>
          <a:prstGeom prst="line">
            <a:avLst/>
          </a:prstGeom>
          <a:noFill/>
          <a:ln w="47625">
            <a:solidFill>
              <a:srgbClr val="D4766A"/>
            </a:solidFill>
            <a:prstDash val="solid"/>
          </a:ln>
        </p:spPr>
      </p:sp>
      <p:sp>
        <p:nvSpPr>
          <p:cNvPr id="23" name="Text 21"/>
          <p:cNvSpPr/>
          <p:nvPr/>
        </p:nvSpPr>
        <p:spPr>
          <a:xfrm>
            <a:off x="758726" y="3492698"/>
            <a:ext cx="355550" cy="355550"/>
          </a:xfrm>
          <a:prstGeom prst="roundRect">
            <a:avLst>
              <a:gd name="adj" fmla="val 257179"/>
            </a:avLst>
          </a:prstGeom>
          <a:solidFill>
            <a:srgbClr val="D4766A"/>
          </a:solidFill>
          <a:ln/>
        </p:spPr>
        <p:txBody>
          <a:bodyPr wrap="square" rtlCol="0" anchor="ctr"/>
          <a:lstStyle/>
          <a:p>
            <a:pPr indent="0" marL="0">
              <a:buNone/>
            </a:pPr>
            <a:endParaRPr lang="en-US" dirty="0"/>
          </a:p>
        </p:txBody>
      </p:sp>
      <p:sp>
        <p:nvSpPr>
          <p:cNvPr id="24" name="Text 22"/>
          <p:cNvSpPr/>
          <p:nvPr/>
        </p:nvSpPr>
        <p:spPr>
          <a:xfrm>
            <a:off x="868211" y="3565624"/>
            <a:ext cx="136580" cy="226314"/>
          </a:xfrm>
          <a:prstGeom prst="rect">
            <a:avLst/>
          </a:prstGeom>
          <a:noFill/>
          <a:ln/>
        </p:spPr>
        <p:txBody>
          <a:bodyPr wrap="square" lIns="0" tIns="0" rIns="0" bIns="0" rtlCol="0" anchor="t"/>
          <a:lstStyle/>
          <a:p>
            <a:pPr algn="ctr" indent="0" marL="0">
              <a:buNone/>
            </a:pPr>
            <a:r>
              <a:rPr lang="en-US" sz="1400" b="1" dirty="0">
                <a:solidFill>
                  <a:srgbClr val="FFFFFF"/>
                </a:solidFill>
                <a:latin typeface="Corbel" pitchFamily="34" charset="0"/>
                <a:ea typeface="Corbel" pitchFamily="34" charset="-122"/>
                <a:cs typeface="Corbel" pitchFamily="34" charset="-120"/>
              </a:rPr>
              <a:t>2</a:t>
            </a:r>
            <a:endParaRPr lang="en-US" sz="1400" dirty="0"/>
          </a:p>
        </p:txBody>
      </p:sp>
      <p:sp>
        <p:nvSpPr>
          <p:cNvPr id="25" name="Text 23"/>
          <p:cNvSpPr/>
          <p:nvPr/>
        </p:nvSpPr>
        <p:spPr>
          <a:xfrm>
            <a:off x="1266676" y="3492698"/>
            <a:ext cx="7532995" cy="226314"/>
          </a:xfrm>
          <a:prstGeom prst="rect">
            <a:avLst/>
          </a:prstGeom>
          <a:noFill/>
          <a:ln/>
        </p:spPr>
        <p:txBody>
          <a:bodyPr wrap="square" lIns="0" tIns="0" rIns="0" bIns="0" rtlCol="0" anchor="t"/>
          <a:lstStyle/>
          <a:p>
            <a:pPr algn="l" indent="0" marL="0">
              <a:spcAft>
                <a:spcPts val="300"/>
              </a:spcAft>
              <a:buNone/>
            </a:pPr>
            <a:r>
              <a:rPr lang="en-US" sz="1400" b="1" dirty="0">
                <a:solidFill>
                  <a:srgbClr val="3C2415"/>
                </a:solidFill>
                <a:latin typeface="Corbel" pitchFamily="34" charset="0"/>
                <a:ea typeface="Corbel" pitchFamily="34" charset="-122"/>
                <a:cs typeface="Corbel" pitchFamily="34" charset="-120"/>
              </a:rPr>
              <a:t>Name the Fix, Not the Fault</a:t>
            </a:r>
            <a:endParaRPr lang="en-US" sz="1400" dirty="0"/>
          </a:p>
        </p:txBody>
      </p:sp>
      <p:sp>
        <p:nvSpPr>
          <p:cNvPr id="26" name="Text 24"/>
          <p:cNvSpPr/>
          <p:nvPr/>
        </p:nvSpPr>
        <p:spPr>
          <a:xfrm>
            <a:off x="1266676" y="3740348"/>
            <a:ext cx="7532995" cy="230332"/>
          </a:xfrm>
          <a:prstGeom prst="rect">
            <a:avLst/>
          </a:prstGeom>
          <a:noFill/>
          <a:ln/>
        </p:spPr>
        <p:txBody>
          <a:bodyPr wrap="square" lIns="0" tIns="0" rIns="0" bIns="0" rtlCol="0" anchor="t"/>
          <a:lstStyle/>
          <a:p>
            <a:pPr algn="l" indent="0" marL="0">
              <a:lnSpc>
                <a:spcPts val="1680"/>
              </a:lnSpc>
              <a:buNone/>
            </a:pPr>
            <a:r>
              <a:rPr lang="en-US" sz="1200" dirty="0">
                <a:solidFill>
                  <a:srgbClr val="6B5443"/>
                </a:solidFill>
                <a:latin typeface="Corbel" pitchFamily="34" charset="0"/>
                <a:ea typeface="Corbel" pitchFamily="34" charset="-122"/>
                <a:cs typeface="Corbel" pitchFamily="34" charset="-120"/>
              </a:rPr>
              <a:t>Replace "They didn't follow up" with "I didn't create a follow-up system." Language rewires ownership.</a:t>
            </a:r>
            <a:endParaRPr lang="en-US" sz="1200" dirty="0"/>
          </a:p>
        </p:txBody>
      </p:sp>
      <p:sp>
        <p:nvSpPr>
          <p:cNvPr id="27" name="Text 25"/>
          <p:cNvSpPr/>
          <p:nvPr/>
        </p:nvSpPr>
        <p:spPr>
          <a:xfrm>
            <a:off x="507950" y="4242495"/>
            <a:ext cx="8128099" cy="784771"/>
          </a:xfrm>
          <a:prstGeom prst="roundRect">
            <a:avLst>
              <a:gd name="adj" fmla="val 6473"/>
            </a:avLst>
          </a:prstGeom>
          <a:solidFill>
            <a:srgbClr val="FFFFFF"/>
          </a:solidFill>
          <a:ln/>
        </p:spPr>
        <p:txBody>
          <a:bodyPr wrap="square" rtlCol="0" anchor="ctr"/>
          <a:lstStyle/>
          <a:p>
            <a:pPr indent="0" marL="0">
              <a:buNone/>
            </a:pPr>
            <a:endParaRPr lang="en-US" dirty="0"/>
          </a:p>
        </p:txBody>
      </p:sp>
      <p:sp>
        <p:nvSpPr>
          <p:cNvPr id="28" name="Shape 26"/>
          <p:cNvSpPr/>
          <p:nvPr/>
        </p:nvSpPr>
        <p:spPr>
          <a:xfrm>
            <a:off x="507950" y="4247257"/>
            <a:ext cx="8128099" cy="0"/>
          </a:xfrm>
          <a:prstGeom prst="line">
            <a:avLst/>
          </a:prstGeom>
          <a:noFill/>
          <a:ln w="9525">
            <a:solidFill>
              <a:srgbClr val="CEBFB5"/>
            </a:solidFill>
            <a:prstDash val="solid"/>
          </a:ln>
        </p:spPr>
      </p:sp>
      <p:sp>
        <p:nvSpPr>
          <p:cNvPr id="29" name="Shape 27"/>
          <p:cNvSpPr/>
          <p:nvPr/>
        </p:nvSpPr>
        <p:spPr>
          <a:xfrm>
            <a:off x="8631287" y="4242495"/>
            <a:ext cx="0" cy="784771"/>
          </a:xfrm>
          <a:prstGeom prst="line">
            <a:avLst/>
          </a:prstGeom>
          <a:noFill/>
          <a:ln w="9525">
            <a:solidFill>
              <a:srgbClr val="CEBFB5"/>
            </a:solidFill>
            <a:prstDash val="solid"/>
          </a:ln>
        </p:spPr>
      </p:sp>
      <p:sp>
        <p:nvSpPr>
          <p:cNvPr id="30" name="Shape 28"/>
          <p:cNvSpPr/>
          <p:nvPr/>
        </p:nvSpPr>
        <p:spPr>
          <a:xfrm>
            <a:off x="507950" y="5022503"/>
            <a:ext cx="8128099" cy="0"/>
          </a:xfrm>
          <a:prstGeom prst="line">
            <a:avLst/>
          </a:prstGeom>
          <a:noFill/>
          <a:ln w="9525">
            <a:solidFill>
              <a:srgbClr val="CEBFB5"/>
            </a:solidFill>
            <a:prstDash val="solid"/>
          </a:ln>
        </p:spPr>
      </p:sp>
      <p:sp>
        <p:nvSpPr>
          <p:cNvPr id="31" name="Shape 29"/>
          <p:cNvSpPr/>
          <p:nvPr/>
        </p:nvSpPr>
        <p:spPr>
          <a:xfrm>
            <a:off x="531763" y="4242495"/>
            <a:ext cx="0" cy="784771"/>
          </a:xfrm>
          <a:prstGeom prst="line">
            <a:avLst/>
          </a:prstGeom>
          <a:noFill/>
          <a:ln w="47625">
            <a:solidFill>
              <a:srgbClr val="6B5443"/>
            </a:solidFill>
            <a:prstDash val="solid"/>
          </a:ln>
        </p:spPr>
      </p:sp>
      <p:sp>
        <p:nvSpPr>
          <p:cNvPr id="32" name="Text 30"/>
          <p:cNvSpPr/>
          <p:nvPr/>
        </p:nvSpPr>
        <p:spPr>
          <a:xfrm>
            <a:off x="758726" y="4404420"/>
            <a:ext cx="355550" cy="355550"/>
          </a:xfrm>
          <a:prstGeom prst="roundRect">
            <a:avLst>
              <a:gd name="adj" fmla="val 257179"/>
            </a:avLst>
          </a:prstGeom>
          <a:solidFill>
            <a:srgbClr val="6B5443"/>
          </a:solidFill>
          <a:ln/>
        </p:spPr>
        <p:txBody>
          <a:bodyPr wrap="square" rtlCol="0" anchor="ctr"/>
          <a:lstStyle/>
          <a:p>
            <a:pPr indent="0" marL="0">
              <a:buNone/>
            </a:pPr>
            <a:endParaRPr lang="en-US" dirty="0"/>
          </a:p>
        </p:txBody>
      </p:sp>
      <p:sp>
        <p:nvSpPr>
          <p:cNvPr id="33" name="Text 31"/>
          <p:cNvSpPr/>
          <p:nvPr/>
        </p:nvSpPr>
        <p:spPr>
          <a:xfrm>
            <a:off x="868211" y="4477345"/>
            <a:ext cx="136580" cy="226314"/>
          </a:xfrm>
          <a:prstGeom prst="rect">
            <a:avLst/>
          </a:prstGeom>
          <a:noFill/>
          <a:ln/>
        </p:spPr>
        <p:txBody>
          <a:bodyPr wrap="square" lIns="0" tIns="0" rIns="0" bIns="0" rtlCol="0" anchor="t"/>
          <a:lstStyle/>
          <a:p>
            <a:pPr algn="ctr" indent="0" marL="0">
              <a:buNone/>
            </a:pPr>
            <a:r>
              <a:rPr lang="en-US" sz="1400" b="1" dirty="0">
                <a:solidFill>
                  <a:srgbClr val="FFFFFF"/>
                </a:solidFill>
                <a:latin typeface="Corbel" pitchFamily="34" charset="0"/>
                <a:ea typeface="Corbel" pitchFamily="34" charset="-122"/>
                <a:cs typeface="Corbel" pitchFamily="34" charset="-120"/>
              </a:rPr>
              <a:t>3</a:t>
            </a:r>
            <a:endParaRPr lang="en-US" sz="1400" dirty="0"/>
          </a:p>
        </p:txBody>
      </p:sp>
      <p:sp>
        <p:nvSpPr>
          <p:cNvPr id="34" name="Text 32"/>
          <p:cNvSpPr/>
          <p:nvPr/>
        </p:nvSpPr>
        <p:spPr>
          <a:xfrm>
            <a:off x="1266676" y="4404420"/>
            <a:ext cx="7519407" cy="226314"/>
          </a:xfrm>
          <a:prstGeom prst="rect">
            <a:avLst/>
          </a:prstGeom>
          <a:noFill/>
          <a:ln/>
        </p:spPr>
        <p:txBody>
          <a:bodyPr wrap="square" lIns="0" tIns="0" rIns="0" bIns="0" rtlCol="0" anchor="t"/>
          <a:lstStyle/>
          <a:p>
            <a:pPr algn="l" indent="0" marL="0">
              <a:spcAft>
                <a:spcPts val="300"/>
              </a:spcAft>
              <a:buNone/>
            </a:pPr>
            <a:r>
              <a:rPr lang="en-US" sz="1400" b="1" dirty="0">
                <a:solidFill>
                  <a:srgbClr val="3C2415"/>
                </a:solidFill>
                <a:latin typeface="Corbel" pitchFamily="34" charset="0"/>
                <a:ea typeface="Corbel" pitchFamily="34" charset="-122"/>
                <a:cs typeface="Corbel" pitchFamily="34" charset="-120"/>
              </a:rPr>
              <a:t>Take One Action Within 24 Hours</a:t>
            </a:r>
            <a:endParaRPr lang="en-US" sz="1400" dirty="0"/>
          </a:p>
        </p:txBody>
      </p:sp>
      <p:sp>
        <p:nvSpPr>
          <p:cNvPr id="35" name="Text 33"/>
          <p:cNvSpPr/>
          <p:nvPr/>
        </p:nvSpPr>
        <p:spPr>
          <a:xfrm>
            <a:off x="1266676" y="4652070"/>
            <a:ext cx="7519407" cy="230332"/>
          </a:xfrm>
          <a:prstGeom prst="rect">
            <a:avLst/>
          </a:prstGeom>
          <a:noFill/>
          <a:ln/>
        </p:spPr>
        <p:txBody>
          <a:bodyPr wrap="square" lIns="0" tIns="0" rIns="0" bIns="0" rtlCol="0" anchor="t"/>
          <a:lstStyle/>
          <a:p>
            <a:pPr algn="l" indent="0" marL="0">
              <a:lnSpc>
                <a:spcPts val="1680"/>
              </a:lnSpc>
              <a:buNone/>
            </a:pPr>
            <a:r>
              <a:rPr lang="en-US" sz="1200" dirty="0">
                <a:solidFill>
                  <a:srgbClr val="6B5443"/>
                </a:solidFill>
                <a:latin typeface="Corbel" pitchFamily="34" charset="0"/>
                <a:ea typeface="Corbel" pitchFamily="34" charset="-122"/>
                <a:cs typeface="Corbel" pitchFamily="34" charset="-120"/>
              </a:rPr>
              <a:t>Accountability without action is just guilt. Commit to one concrete move before the sun sets tomorrow.</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F0"/>
        </a:solidFill>
      </p:bgPr>
    </p:bg>
    <p:spTree>
      <p:nvGrpSpPr>
        <p:cNvPr id="1" name=""/>
        <p:cNvGrpSpPr/>
        <p:nvPr/>
      </p:nvGrpSpPr>
      <p:grpSpPr>
        <a:xfrm>
          <a:off x="0" y="0"/>
          <a:ext cx="0" cy="0"/>
          <a:chOff x="0" y="0"/>
          <a:chExt cx="0" cy="0"/>
        </a:xfrm>
      </p:grpSpPr>
      <p:sp>
        <p:nvSpPr>
          <p:cNvPr id="2" name="Text 0"/>
          <p:cNvSpPr/>
          <p:nvPr/>
        </p:nvSpPr>
        <p:spPr>
          <a:xfrm>
            <a:off x="0" y="0"/>
            <a:ext cx="9144000" cy="707827"/>
          </a:xfrm>
          <a:prstGeom prst="rect">
            <a:avLst/>
          </a:prstGeom>
          <a:solidFill>
            <a:srgbClr val="2D1B10"/>
          </a:solidFill>
          <a:ln/>
        </p:spPr>
        <p:txBody>
          <a:bodyPr wrap="square" rtlCol="0" anchor="ctr"/>
          <a:lstStyle/>
          <a:p>
            <a:pPr indent="0" marL="0">
              <a:buNone/>
            </a:pPr>
            <a:endParaRPr lang="en-US" dirty="0"/>
          </a:p>
        </p:txBody>
      </p:sp>
      <p:sp>
        <p:nvSpPr>
          <p:cNvPr id="3" name="Text 1"/>
          <p:cNvSpPr/>
          <p:nvPr/>
        </p:nvSpPr>
        <p:spPr>
          <a:xfrm>
            <a:off x="457200" y="239613"/>
            <a:ext cx="1128564" cy="228600"/>
          </a:xfrm>
          <a:prstGeom prst="roundRect">
            <a:avLst>
              <a:gd name="adj" fmla="val 11111"/>
            </a:avLst>
          </a:prstGeom>
          <a:solidFill>
            <a:srgbClr val="C09E30"/>
          </a:solidFill>
          <a:ln/>
        </p:spPr>
        <p:txBody>
          <a:bodyPr wrap="square" rtlCol="0" anchor="ctr"/>
          <a:lstStyle/>
          <a:p>
            <a:pPr indent="0" marL="0">
              <a:buNone/>
            </a:pPr>
            <a:endParaRPr lang="en-US" dirty="0"/>
          </a:p>
        </p:txBody>
      </p:sp>
      <p:sp>
        <p:nvSpPr>
          <p:cNvPr id="4" name="Text 2"/>
          <p:cNvSpPr/>
          <p:nvPr/>
        </p:nvSpPr>
        <p:spPr>
          <a:xfrm>
            <a:off x="609600" y="277713"/>
            <a:ext cx="1153269" cy="164592"/>
          </a:xfrm>
          <a:prstGeom prst="rect">
            <a:avLst/>
          </a:prstGeom>
          <a:noFill/>
          <a:ln/>
        </p:spPr>
        <p:txBody>
          <a:bodyPr wrap="none" lIns="0" tIns="0" rIns="0" bIns="0" rtlCol="0" anchor="t"/>
          <a:lstStyle/>
          <a:p>
            <a:pPr algn="l" indent="0" marL="0">
              <a:buNone/>
            </a:pPr>
            <a:r>
              <a:rPr lang="en-US" sz="1100" b="1" spc="200" kern="0" dirty="0">
                <a:solidFill>
                  <a:srgbClr val="1E120A"/>
                </a:solidFill>
                <a:latin typeface="Corbel" pitchFamily="34" charset="0"/>
                <a:ea typeface="Corbel" pitchFamily="34" charset="-122"/>
                <a:cs typeface="Corbel" pitchFamily="34" charset="-120"/>
              </a:rPr>
              <a:t>PILLAR 2</a:t>
            </a:r>
            <a:endParaRPr lang="en-US" sz="1100" dirty="0"/>
          </a:p>
        </p:txBody>
      </p:sp>
      <p:sp>
        <p:nvSpPr>
          <p:cNvPr id="5" name="Text 3"/>
          <p:cNvSpPr/>
          <p:nvPr/>
        </p:nvSpPr>
        <p:spPr>
          <a:xfrm>
            <a:off x="1763464" y="177701"/>
            <a:ext cx="3966954" cy="380619"/>
          </a:xfrm>
          <a:prstGeom prst="rect">
            <a:avLst/>
          </a:prstGeom>
          <a:noFill/>
          <a:ln/>
        </p:spPr>
        <p:txBody>
          <a:bodyPr wrap="none" lIns="0" tIns="0" rIns="0" bIns="0" rtlCol="0" anchor="t"/>
          <a:lstStyle/>
          <a:p>
            <a:pPr algn="l" indent="0" marL="0">
              <a:buNone/>
            </a:pPr>
            <a:r>
              <a:rPr lang="en-US" sz="2400" b="1" dirty="0">
                <a:solidFill>
                  <a:srgbClr val="FFFFFF"/>
                </a:solidFill>
                <a:latin typeface="Palatino Linotype" pitchFamily="34" charset="0"/>
                <a:ea typeface="Palatino Linotype" pitchFamily="34" charset="-122"/>
                <a:cs typeface="Palatino Linotype" pitchFamily="34" charset="-120"/>
              </a:rPr>
              <a:t>Words Create Worlds</a:t>
            </a:r>
            <a:endParaRPr lang="en-US" sz="2400" dirty="0"/>
          </a:p>
        </p:txBody>
      </p:sp>
      <p:sp>
        <p:nvSpPr>
          <p:cNvPr id="6" name="Text 4"/>
          <p:cNvSpPr/>
          <p:nvPr/>
        </p:nvSpPr>
        <p:spPr>
          <a:xfrm>
            <a:off x="507950" y="961727"/>
            <a:ext cx="8636000" cy="226314"/>
          </a:xfrm>
          <a:prstGeom prst="rect">
            <a:avLst/>
          </a:prstGeom>
          <a:noFill/>
          <a:ln/>
        </p:spPr>
        <p:txBody>
          <a:bodyPr wrap="square" lIns="0" tIns="0" rIns="0" bIns="0" rtlCol="0" anchor="t"/>
          <a:lstStyle/>
          <a:p>
            <a:pPr algn="l" indent="0" marL="0">
              <a:spcAft>
                <a:spcPts val="1400"/>
              </a:spcAft>
              <a:buNone/>
            </a:pPr>
            <a:r>
              <a:rPr lang="en-US" sz="1400" i="1" dirty="0">
                <a:solidFill>
                  <a:srgbClr val="6B5443"/>
                </a:solidFill>
                <a:latin typeface="Corbel" pitchFamily="34" charset="0"/>
                <a:ea typeface="Corbel" pitchFamily="34" charset="-122"/>
                <a:cs typeface="Corbel" pitchFamily="34" charset="-120"/>
              </a:rPr>
              <a:t>Your language either opens doors or closes them. Choose deliberately.</a:t>
            </a:r>
            <a:endParaRPr lang="en-US" sz="1400" dirty="0"/>
          </a:p>
        </p:txBody>
      </p:sp>
      <p:sp>
        <p:nvSpPr>
          <p:cNvPr id="7" name="Text 5"/>
          <p:cNvSpPr/>
          <p:nvPr/>
        </p:nvSpPr>
        <p:spPr>
          <a:xfrm>
            <a:off x="507950" y="1348978"/>
            <a:ext cx="8128099" cy="2205930"/>
          </a:xfrm>
          <a:prstGeom prst="roundRect">
            <a:avLst>
              <a:gd name="adj" fmla="val 2303"/>
            </a:avLst>
          </a:prstGeom>
          <a:noFill/>
          <a:ln w="9525">
            <a:solidFill>
              <a:srgbClr val="CEBFB5"/>
            </a:solidFill>
          </a:ln>
        </p:spPr>
        <p:txBody>
          <a:bodyPr wrap="square" rtlCol="0" anchor="ctr"/>
          <a:lstStyle/>
          <a:p>
            <a:pPr indent="0" marL="0">
              <a:buNone/>
            </a:pPr>
            <a:endParaRPr lang="en-US" dirty="0"/>
          </a:p>
        </p:txBody>
      </p:sp>
      <p:sp>
        <p:nvSpPr>
          <p:cNvPr id="8" name="Text 6"/>
          <p:cNvSpPr/>
          <p:nvPr/>
        </p:nvSpPr>
        <p:spPr>
          <a:xfrm>
            <a:off x="517475" y="1358503"/>
            <a:ext cx="8109049" cy="403027"/>
          </a:xfrm>
          <a:prstGeom prst="rect">
            <a:avLst/>
          </a:prstGeom>
          <a:solidFill>
            <a:srgbClr val="3C2415"/>
          </a:solidFill>
          <a:ln/>
        </p:spPr>
        <p:txBody>
          <a:bodyPr wrap="square" rtlCol="0" anchor="ctr"/>
          <a:lstStyle/>
          <a:p>
            <a:pPr indent="0" marL="0">
              <a:buNone/>
            </a:pPr>
            <a:endParaRPr lang="en-US" dirty="0"/>
          </a:p>
        </p:txBody>
      </p:sp>
      <p:sp>
        <p:nvSpPr>
          <p:cNvPr id="9" name="Text 7"/>
          <p:cNvSpPr/>
          <p:nvPr/>
        </p:nvSpPr>
        <p:spPr>
          <a:xfrm>
            <a:off x="720626" y="1460004"/>
            <a:ext cx="4560280" cy="216027"/>
          </a:xfrm>
          <a:prstGeom prst="rect">
            <a:avLst/>
          </a:prstGeom>
          <a:noFill/>
          <a:ln/>
        </p:spPr>
        <p:txBody>
          <a:bodyPr wrap="none" lIns="0" tIns="0" rIns="0" bIns="0" rtlCol="0" anchor="t"/>
          <a:lstStyle/>
          <a:p>
            <a:pPr algn="l" indent="0" marL="0">
              <a:buNone/>
            </a:pPr>
            <a:r>
              <a:rPr lang="en-US" sz="1300" b="1" dirty="0">
                <a:solidFill>
                  <a:srgbClr val="CEBFB5"/>
                </a:solidFill>
                <a:latin typeface="Corbel" pitchFamily="34" charset="0"/>
                <a:ea typeface="Corbel" pitchFamily="34" charset="-122"/>
                <a:cs typeface="Corbel" pitchFamily="34" charset="-120"/>
              </a:rPr>
              <a:t>Instead of...</a:t>
            </a:r>
            <a:endParaRPr lang="en-US" sz="1300" dirty="0"/>
          </a:p>
        </p:txBody>
      </p:sp>
      <p:sp>
        <p:nvSpPr>
          <p:cNvPr id="10" name="Text 8"/>
          <p:cNvSpPr/>
          <p:nvPr/>
        </p:nvSpPr>
        <p:spPr>
          <a:xfrm>
            <a:off x="4775150" y="1460004"/>
            <a:ext cx="4368850" cy="216027"/>
          </a:xfrm>
          <a:prstGeom prst="rect">
            <a:avLst/>
          </a:prstGeom>
          <a:noFill/>
          <a:ln/>
        </p:spPr>
        <p:txBody>
          <a:bodyPr wrap="none" lIns="0" tIns="0" rIns="0" bIns="0" rtlCol="0" anchor="t"/>
          <a:lstStyle/>
          <a:p>
            <a:pPr algn="l" indent="0" marL="0">
              <a:buNone/>
            </a:pPr>
            <a:r>
              <a:rPr lang="en-US" sz="1300" b="1" dirty="0">
                <a:solidFill>
                  <a:srgbClr val="C09E30"/>
                </a:solidFill>
                <a:latin typeface="Corbel" pitchFamily="34" charset="0"/>
                <a:ea typeface="Corbel" pitchFamily="34" charset="-122"/>
                <a:cs typeface="Corbel" pitchFamily="34" charset="-120"/>
              </a:rPr>
              <a:t>Say this...</a:t>
            </a:r>
            <a:endParaRPr lang="en-US" sz="1300" dirty="0"/>
          </a:p>
        </p:txBody>
      </p:sp>
      <p:sp>
        <p:nvSpPr>
          <p:cNvPr id="11" name="Text 9"/>
          <p:cNvSpPr/>
          <p:nvPr/>
        </p:nvSpPr>
        <p:spPr>
          <a:xfrm>
            <a:off x="517475" y="1761530"/>
            <a:ext cx="8109049" cy="358676"/>
          </a:xfrm>
          <a:prstGeom prst="rect">
            <a:avLst/>
          </a:prstGeom>
          <a:solidFill>
            <a:srgbClr val="FFFFFF"/>
          </a:solidFill>
          <a:ln/>
        </p:spPr>
        <p:txBody>
          <a:bodyPr wrap="square" rtlCol="0" anchor="ctr"/>
          <a:lstStyle/>
          <a:p>
            <a:pPr indent="0" marL="0">
              <a:buNone/>
            </a:pPr>
            <a:endParaRPr lang="en-US" dirty="0"/>
          </a:p>
        </p:txBody>
      </p:sp>
      <p:sp>
        <p:nvSpPr>
          <p:cNvPr id="12" name="Shape 10"/>
          <p:cNvSpPr/>
          <p:nvPr/>
        </p:nvSpPr>
        <p:spPr>
          <a:xfrm>
            <a:off x="4572000" y="1761530"/>
            <a:ext cx="0" cy="358676"/>
          </a:xfrm>
          <a:prstGeom prst="line">
            <a:avLst/>
          </a:prstGeom>
          <a:noFill/>
          <a:ln w="9525">
            <a:solidFill>
              <a:srgbClr val="CEBFB5"/>
            </a:solidFill>
            <a:prstDash val="solid"/>
          </a:ln>
        </p:spPr>
      </p:sp>
      <p:sp>
        <p:nvSpPr>
          <p:cNvPr id="13" name="Shape 11"/>
          <p:cNvSpPr/>
          <p:nvPr/>
        </p:nvSpPr>
        <p:spPr>
          <a:xfrm>
            <a:off x="517475" y="2115443"/>
            <a:ext cx="4059287" cy="0"/>
          </a:xfrm>
          <a:prstGeom prst="line">
            <a:avLst/>
          </a:prstGeom>
          <a:noFill/>
          <a:ln w="9525">
            <a:solidFill>
              <a:srgbClr val="CEBFB5"/>
            </a:solidFill>
            <a:prstDash val="solid"/>
          </a:ln>
        </p:spPr>
      </p:sp>
      <p:sp>
        <p:nvSpPr>
          <p:cNvPr id="14" name="Text 12"/>
          <p:cNvSpPr/>
          <p:nvPr/>
        </p:nvSpPr>
        <p:spPr>
          <a:xfrm>
            <a:off x="720626" y="1850380"/>
            <a:ext cx="4007807" cy="185166"/>
          </a:xfrm>
          <a:prstGeom prst="rect">
            <a:avLst/>
          </a:prstGeom>
          <a:noFill/>
          <a:ln/>
        </p:spPr>
        <p:txBody>
          <a:bodyPr wrap="square" lIns="0" tIns="0" rIns="0" bIns="0" rtlCol="0" anchor="t"/>
          <a:lstStyle/>
          <a:p>
            <a:pPr algn="l" indent="0" marL="0">
              <a:buNone/>
            </a:pPr>
            <a:r>
              <a:rPr lang="en-US" sz="1200" dirty="0">
                <a:solidFill>
                  <a:srgbClr val="9E8A7A"/>
                </a:solidFill>
                <a:latin typeface="Corbel" pitchFamily="34" charset="0"/>
                <a:ea typeface="Corbel" pitchFamily="34" charset="-122"/>
                <a:cs typeface="Corbel" pitchFamily="34" charset="-120"/>
              </a:rPr>
              <a:t>"The market is tough right now."</a:t>
            </a:r>
            <a:endParaRPr lang="en-US" sz="1200" dirty="0"/>
          </a:p>
        </p:txBody>
      </p:sp>
      <p:sp>
        <p:nvSpPr>
          <p:cNvPr id="15" name="Shape 13"/>
          <p:cNvSpPr/>
          <p:nvPr/>
        </p:nvSpPr>
        <p:spPr>
          <a:xfrm>
            <a:off x="4576763" y="2115443"/>
            <a:ext cx="4049762" cy="0"/>
          </a:xfrm>
          <a:prstGeom prst="line">
            <a:avLst/>
          </a:prstGeom>
          <a:noFill/>
          <a:ln w="9525">
            <a:solidFill>
              <a:srgbClr val="CEBFB5"/>
            </a:solidFill>
            <a:prstDash val="solid"/>
          </a:ln>
        </p:spPr>
      </p:sp>
      <p:sp>
        <p:nvSpPr>
          <p:cNvPr id="16" name="Text 14"/>
          <p:cNvSpPr/>
          <p:nvPr/>
        </p:nvSpPr>
        <p:spPr>
          <a:xfrm>
            <a:off x="4779913" y="1850380"/>
            <a:ext cx="4007807" cy="185166"/>
          </a:xfrm>
          <a:prstGeom prst="rect">
            <a:avLst/>
          </a:prstGeom>
          <a:noFill/>
          <a:ln/>
        </p:spPr>
        <p:txBody>
          <a:bodyPr wrap="square" lIns="0" tIns="0" rIns="0" bIns="0" rtlCol="0" anchor="t"/>
          <a:lstStyle/>
          <a:p>
            <a:pPr algn="l" indent="0" marL="0">
              <a:buNone/>
            </a:pPr>
            <a:r>
              <a:rPr lang="en-US" sz="1200" b="1" dirty="0">
                <a:solidFill>
                  <a:srgbClr val="3C2415"/>
                </a:solidFill>
                <a:latin typeface="Corbel" pitchFamily="34" charset="0"/>
                <a:ea typeface="Corbel" pitchFamily="34" charset="-122"/>
                <a:cs typeface="Corbel" pitchFamily="34" charset="-120"/>
              </a:rPr>
              <a:t>"I'm refining my approach for this market."</a:t>
            </a:r>
            <a:endParaRPr lang="en-US" sz="1200" dirty="0"/>
          </a:p>
        </p:txBody>
      </p:sp>
      <p:sp>
        <p:nvSpPr>
          <p:cNvPr id="17" name="Text 15"/>
          <p:cNvSpPr/>
          <p:nvPr/>
        </p:nvSpPr>
        <p:spPr>
          <a:xfrm>
            <a:off x="517475" y="2120205"/>
            <a:ext cx="8109049" cy="358676"/>
          </a:xfrm>
          <a:prstGeom prst="rect">
            <a:avLst/>
          </a:prstGeom>
          <a:solidFill>
            <a:srgbClr val="F5F2F0"/>
          </a:solidFill>
          <a:ln/>
        </p:spPr>
        <p:txBody>
          <a:bodyPr wrap="square" rtlCol="0" anchor="ctr"/>
          <a:lstStyle/>
          <a:p>
            <a:pPr indent="0" marL="0">
              <a:buNone/>
            </a:pPr>
            <a:endParaRPr lang="en-US" dirty="0"/>
          </a:p>
        </p:txBody>
      </p:sp>
      <p:sp>
        <p:nvSpPr>
          <p:cNvPr id="18" name="Shape 16"/>
          <p:cNvSpPr/>
          <p:nvPr/>
        </p:nvSpPr>
        <p:spPr>
          <a:xfrm>
            <a:off x="4572000" y="2120205"/>
            <a:ext cx="0" cy="358676"/>
          </a:xfrm>
          <a:prstGeom prst="line">
            <a:avLst/>
          </a:prstGeom>
          <a:noFill/>
          <a:ln w="9525">
            <a:solidFill>
              <a:srgbClr val="CEBFB5"/>
            </a:solidFill>
            <a:prstDash val="solid"/>
          </a:ln>
        </p:spPr>
      </p:sp>
      <p:sp>
        <p:nvSpPr>
          <p:cNvPr id="19" name="Shape 17"/>
          <p:cNvSpPr/>
          <p:nvPr/>
        </p:nvSpPr>
        <p:spPr>
          <a:xfrm>
            <a:off x="517475" y="2474119"/>
            <a:ext cx="4059287" cy="0"/>
          </a:xfrm>
          <a:prstGeom prst="line">
            <a:avLst/>
          </a:prstGeom>
          <a:noFill/>
          <a:ln w="9525">
            <a:solidFill>
              <a:srgbClr val="CEBFB5"/>
            </a:solidFill>
            <a:prstDash val="solid"/>
          </a:ln>
        </p:spPr>
      </p:sp>
      <p:sp>
        <p:nvSpPr>
          <p:cNvPr id="20" name="Text 18"/>
          <p:cNvSpPr/>
          <p:nvPr/>
        </p:nvSpPr>
        <p:spPr>
          <a:xfrm>
            <a:off x="720626" y="2209056"/>
            <a:ext cx="4007807" cy="185166"/>
          </a:xfrm>
          <a:prstGeom prst="rect">
            <a:avLst/>
          </a:prstGeom>
          <a:noFill/>
          <a:ln/>
        </p:spPr>
        <p:txBody>
          <a:bodyPr wrap="square" lIns="0" tIns="0" rIns="0" bIns="0" rtlCol="0" anchor="t"/>
          <a:lstStyle/>
          <a:p>
            <a:pPr algn="l" indent="0" marL="0">
              <a:buNone/>
            </a:pPr>
            <a:r>
              <a:rPr lang="en-US" sz="1200" dirty="0">
                <a:solidFill>
                  <a:srgbClr val="9E8A7A"/>
                </a:solidFill>
                <a:latin typeface="Corbel" pitchFamily="34" charset="0"/>
                <a:ea typeface="Corbel" pitchFamily="34" charset="-122"/>
                <a:cs typeface="Corbel" pitchFamily="34" charset="-120"/>
              </a:rPr>
              <a:t>"My client didn't show up."</a:t>
            </a:r>
            <a:endParaRPr lang="en-US" sz="1200" dirty="0"/>
          </a:p>
        </p:txBody>
      </p:sp>
      <p:sp>
        <p:nvSpPr>
          <p:cNvPr id="21" name="Shape 19"/>
          <p:cNvSpPr/>
          <p:nvPr/>
        </p:nvSpPr>
        <p:spPr>
          <a:xfrm>
            <a:off x="4576763" y="2474119"/>
            <a:ext cx="4049762" cy="0"/>
          </a:xfrm>
          <a:prstGeom prst="line">
            <a:avLst/>
          </a:prstGeom>
          <a:noFill/>
          <a:ln w="9525">
            <a:solidFill>
              <a:srgbClr val="CEBFB5"/>
            </a:solidFill>
            <a:prstDash val="solid"/>
          </a:ln>
        </p:spPr>
      </p:sp>
      <p:sp>
        <p:nvSpPr>
          <p:cNvPr id="22" name="Text 20"/>
          <p:cNvSpPr/>
          <p:nvPr/>
        </p:nvSpPr>
        <p:spPr>
          <a:xfrm>
            <a:off x="4779913" y="2209056"/>
            <a:ext cx="4007807" cy="185166"/>
          </a:xfrm>
          <a:prstGeom prst="rect">
            <a:avLst/>
          </a:prstGeom>
          <a:noFill/>
          <a:ln/>
        </p:spPr>
        <p:txBody>
          <a:bodyPr wrap="square" lIns="0" tIns="0" rIns="0" bIns="0" rtlCol="0" anchor="t"/>
          <a:lstStyle/>
          <a:p>
            <a:pPr algn="l" indent="0" marL="0">
              <a:buNone/>
            </a:pPr>
            <a:r>
              <a:rPr lang="en-US" sz="1200" b="1" dirty="0">
                <a:solidFill>
                  <a:srgbClr val="3C2415"/>
                </a:solidFill>
                <a:latin typeface="Corbel" pitchFamily="34" charset="0"/>
                <a:ea typeface="Corbel" pitchFamily="34" charset="-122"/>
                <a:cs typeface="Corbel" pitchFamily="34" charset="-120"/>
              </a:rPr>
              <a:t>"I didn't confirm the meeting powerfully enough."</a:t>
            </a:r>
            <a:endParaRPr lang="en-US" sz="1200" dirty="0"/>
          </a:p>
        </p:txBody>
      </p:sp>
      <p:sp>
        <p:nvSpPr>
          <p:cNvPr id="23" name="Text 21"/>
          <p:cNvSpPr/>
          <p:nvPr/>
        </p:nvSpPr>
        <p:spPr>
          <a:xfrm>
            <a:off x="517475" y="2478881"/>
            <a:ext cx="8109049" cy="358676"/>
          </a:xfrm>
          <a:prstGeom prst="rect">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4572000" y="2478881"/>
            <a:ext cx="0" cy="358676"/>
          </a:xfrm>
          <a:prstGeom prst="line">
            <a:avLst/>
          </a:prstGeom>
          <a:noFill/>
          <a:ln w="9525">
            <a:solidFill>
              <a:srgbClr val="CEBFB5"/>
            </a:solidFill>
            <a:prstDash val="solid"/>
          </a:ln>
        </p:spPr>
      </p:sp>
      <p:sp>
        <p:nvSpPr>
          <p:cNvPr id="25" name="Shape 23"/>
          <p:cNvSpPr/>
          <p:nvPr/>
        </p:nvSpPr>
        <p:spPr>
          <a:xfrm>
            <a:off x="517475" y="2832795"/>
            <a:ext cx="4059287" cy="0"/>
          </a:xfrm>
          <a:prstGeom prst="line">
            <a:avLst/>
          </a:prstGeom>
          <a:noFill/>
          <a:ln w="9525">
            <a:solidFill>
              <a:srgbClr val="CEBFB5"/>
            </a:solidFill>
            <a:prstDash val="solid"/>
          </a:ln>
        </p:spPr>
      </p:sp>
      <p:sp>
        <p:nvSpPr>
          <p:cNvPr id="26" name="Text 24"/>
          <p:cNvSpPr/>
          <p:nvPr/>
        </p:nvSpPr>
        <p:spPr>
          <a:xfrm>
            <a:off x="720626" y="2567732"/>
            <a:ext cx="4007807" cy="185166"/>
          </a:xfrm>
          <a:prstGeom prst="rect">
            <a:avLst/>
          </a:prstGeom>
          <a:noFill/>
          <a:ln/>
        </p:spPr>
        <p:txBody>
          <a:bodyPr wrap="square" lIns="0" tIns="0" rIns="0" bIns="0" rtlCol="0" anchor="t"/>
          <a:lstStyle/>
          <a:p>
            <a:pPr algn="l" indent="0" marL="0">
              <a:buNone/>
            </a:pPr>
            <a:r>
              <a:rPr lang="en-US" sz="1200" dirty="0">
                <a:solidFill>
                  <a:srgbClr val="9E8A7A"/>
                </a:solidFill>
                <a:latin typeface="Corbel" pitchFamily="34" charset="0"/>
                <a:ea typeface="Corbel" pitchFamily="34" charset="-122"/>
                <a:cs typeface="Corbel" pitchFamily="34" charset="-120"/>
              </a:rPr>
              <a:t>"I can't afford that."</a:t>
            </a:r>
            <a:endParaRPr lang="en-US" sz="1200" dirty="0"/>
          </a:p>
        </p:txBody>
      </p:sp>
      <p:sp>
        <p:nvSpPr>
          <p:cNvPr id="27" name="Shape 25"/>
          <p:cNvSpPr/>
          <p:nvPr/>
        </p:nvSpPr>
        <p:spPr>
          <a:xfrm>
            <a:off x="4576763" y="2832795"/>
            <a:ext cx="4049762" cy="0"/>
          </a:xfrm>
          <a:prstGeom prst="line">
            <a:avLst/>
          </a:prstGeom>
          <a:noFill/>
          <a:ln w="9525">
            <a:solidFill>
              <a:srgbClr val="CEBFB5"/>
            </a:solidFill>
            <a:prstDash val="solid"/>
          </a:ln>
        </p:spPr>
      </p:sp>
      <p:sp>
        <p:nvSpPr>
          <p:cNvPr id="28" name="Text 26"/>
          <p:cNvSpPr/>
          <p:nvPr/>
        </p:nvSpPr>
        <p:spPr>
          <a:xfrm>
            <a:off x="4779913" y="2567732"/>
            <a:ext cx="4007807" cy="185166"/>
          </a:xfrm>
          <a:prstGeom prst="rect">
            <a:avLst/>
          </a:prstGeom>
          <a:noFill/>
          <a:ln/>
        </p:spPr>
        <p:txBody>
          <a:bodyPr wrap="square" lIns="0" tIns="0" rIns="0" bIns="0" rtlCol="0" anchor="t"/>
          <a:lstStyle/>
          <a:p>
            <a:pPr algn="l" indent="0" marL="0">
              <a:buNone/>
            </a:pPr>
            <a:r>
              <a:rPr lang="en-US" sz="1200" b="1" dirty="0">
                <a:solidFill>
                  <a:srgbClr val="3C2415"/>
                </a:solidFill>
                <a:latin typeface="Corbel" pitchFamily="34" charset="0"/>
                <a:ea typeface="Corbel" pitchFamily="34" charset="-122"/>
                <a:cs typeface="Corbel" pitchFamily="34" charset="-120"/>
              </a:rPr>
              <a:t>"I'm choosing where to invest right now."</a:t>
            </a:r>
            <a:endParaRPr lang="en-US" sz="1200" dirty="0"/>
          </a:p>
        </p:txBody>
      </p:sp>
      <p:sp>
        <p:nvSpPr>
          <p:cNvPr id="29" name="Text 27"/>
          <p:cNvSpPr/>
          <p:nvPr/>
        </p:nvSpPr>
        <p:spPr>
          <a:xfrm>
            <a:off x="517475" y="2837557"/>
            <a:ext cx="8109049" cy="358676"/>
          </a:xfrm>
          <a:prstGeom prst="rect">
            <a:avLst/>
          </a:prstGeom>
          <a:solidFill>
            <a:srgbClr val="F5F2F0"/>
          </a:solidFill>
          <a:ln/>
        </p:spPr>
        <p:txBody>
          <a:bodyPr wrap="square" rtlCol="0" anchor="ctr"/>
          <a:lstStyle/>
          <a:p>
            <a:pPr indent="0" marL="0">
              <a:buNone/>
            </a:pPr>
            <a:endParaRPr lang="en-US" dirty="0"/>
          </a:p>
        </p:txBody>
      </p:sp>
      <p:sp>
        <p:nvSpPr>
          <p:cNvPr id="30" name="Shape 28"/>
          <p:cNvSpPr/>
          <p:nvPr/>
        </p:nvSpPr>
        <p:spPr>
          <a:xfrm>
            <a:off x="4572000" y="2837557"/>
            <a:ext cx="0" cy="358676"/>
          </a:xfrm>
          <a:prstGeom prst="line">
            <a:avLst/>
          </a:prstGeom>
          <a:noFill/>
          <a:ln w="9525">
            <a:solidFill>
              <a:srgbClr val="CEBFB5"/>
            </a:solidFill>
            <a:prstDash val="solid"/>
          </a:ln>
        </p:spPr>
      </p:sp>
      <p:sp>
        <p:nvSpPr>
          <p:cNvPr id="31" name="Shape 29"/>
          <p:cNvSpPr/>
          <p:nvPr/>
        </p:nvSpPr>
        <p:spPr>
          <a:xfrm>
            <a:off x="517475" y="3191470"/>
            <a:ext cx="4059287" cy="0"/>
          </a:xfrm>
          <a:prstGeom prst="line">
            <a:avLst/>
          </a:prstGeom>
          <a:noFill/>
          <a:ln w="9525">
            <a:solidFill>
              <a:srgbClr val="CEBFB5"/>
            </a:solidFill>
            <a:prstDash val="solid"/>
          </a:ln>
        </p:spPr>
      </p:sp>
      <p:sp>
        <p:nvSpPr>
          <p:cNvPr id="32" name="Text 30"/>
          <p:cNvSpPr/>
          <p:nvPr/>
        </p:nvSpPr>
        <p:spPr>
          <a:xfrm>
            <a:off x="720626" y="2926407"/>
            <a:ext cx="4007807" cy="185166"/>
          </a:xfrm>
          <a:prstGeom prst="rect">
            <a:avLst/>
          </a:prstGeom>
          <a:noFill/>
          <a:ln/>
        </p:spPr>
        <p:txBody>
          <a:bodyPr wrap="square" lIns="0" tIns="0" rIns="0" bIns="0" rtlCol="0" anchor="t"/>
          <a:lstStyle/>
          <a:p>
            <a:pPr algn="l" indent="0" marL="0">
              <a:buNone/>
            </a:pPr>
            <a:r>
              <a:rPr lang="en-US" sz="1200" dirty="0">
                <a:solidFill>
                  <a:srgbClr val="9E8A7A"/>
                </a:solidFill>
                <a:latin typeface="Corbel" pitchFamily="34" charset="0"/>
                <a:ea typeface="Corbel" pitchFamily="34" charset="-122"/>
                <a:cs typeface="Corbel" pitchFamily="34" charset="-120"/>
              </a:rPr>
              <a:t>"That's just how it is."</a:t>
            </a:r>
            <a:endParaRPr lang="en-US" sz="1200" dirty="0"/>
          </a:p>
        </p:txBody>
      </p:sp>
      <p:sp>
        <p:nvSpPr>
          <p:cNvPr id="33" name="Shape 31"/>
          <p:cNvSpPr/>
          <p:nvPr/>
        </p:nvSpPr>
        <p:spPr>
          <a:xfrm>
            <a:off x="4576763" y="3191470"/>
            <a:ext cx="4049762" cy="0"/>
          </a:xfrm>
          <a:prstGeom prst="line">
            <a:avLst/>
          </a:prstGeom>
          <a:noFill/>
          <a:ln w="9525">
            <a:solidFill>
              <a:srgbClr val="CEBFB5"/>
            </a:solidFill>
            <a:prstDash val="solid"/>
          </a:ln>
        </p:spPr>
      </p:sp>
      <p:sp>
        <p:nvSpPr>
          <p:cNvPr id="34" name="Text 32"/>
          <p:cNvSpPr/>
          <p:nvPr/>
        </p:nvSpPr>
        <p:spPr>
          <a:xfrm>
            <a:off x="4779913" y="2926407"/>
            <a:ext cx="4007807" cy="185166"/>
          </a:xfrm>
          <a:prstGeom prst="rect">
            <a:avLst/>
          </a:prstGeom>
          <a:noFill/>
          <a:ln/>
        </p:spPr>
        <p:txBody>
          <a:bodyPr wrap="square" lIns="0" tIns="0" rIns="0" bIns="0" rtlCol="0" anchor="t"/>
          <a:lstStyle/>
          <a:p>
            <a:pPr algn="l" indent="0" marL="0">
              <a:buNone/>
            </a:pPr>
            <a:r>
              <a:rPr lang="en-US" sz="1200" b="1" dirty="0">
                <a:solidFill>
                  <a:srgbClr val="3C2415"/>
                </a:solidFill>
                <a:latin typeface="Corbel" pitchFamily="34" charset="0"/>
                <a:ea typeface="Corbel" pitchFamily="34" charset="-122"/>
                <a:cs typeface="Corbel" pitchFamily="34" charset="-120"/>
              </a:rPr>
              <a:t>"That's where it is — and here's my next move."</a:t>
            </a:r>
            <a:endParaRPr lang="en-US" sz="1200" dirty="0"/>
          </a:p>
        </p:txBody>
      </p:sp>
      <p:sp>
        <p:nvSpPr>
          <p:cNvPr id="35" name="Text 33"/>
          <p:cNvSpPr/>
          <p:nvPr/>
        </p:nvSpPr>
        <p:spPr>
          <a:xfrm>
            <a:off x="517475" y="3196233"/>
            <a:ext cx="8109049" cy="349151"/>
          </a:xfrm>
          <a:prstGeom prst="rect">
            <a:avLst/>
          </a:prstGeom>
          <a:solidFill>
            <a:srgbClr val="FFFFFF"/>
          </a:solidFill>
          <a:ln/>
        </p:spPr>
        <p:txBody>
          <a:bodyPr wrap="square" rtlCol="0" anchor="ctr"/>
          <a:lstStyle/>
          <a:p>
            <a:pPr indent="0" marL="0">
              <a:buNone/>
            </a:pPr>
            <a:endParaRPr lang="en-US" dirty="0"/>
          </a:p>
        </p:txBody>
      </p:sp>
      <p:sp>
        <p:nvSpPr>
          <p:cNvPr id="36" name="Shape 34"/>
          <p:cNvSpPr/>
          <p:nvPr/>
        </p:nvSpPr>
        <p:spPr>
          <a:xfrm>
            <a:off x="4572000" y="3196233"/>
            <a:ext cx="0" cy="349151"/>
          </a:xfrm>
          <a:prstGeom prst="line">
            <a:avLst/>
          </a:prstGeom>
          <a:noFill/>
          <a:ln w="9525">
            <a:solidFill>
              <a:srgbClr val="CEBFB5"/>
            </a:solidFill>
            <a:prstDash val="solid"/>
          </a:ln>
        </p:spPr>
      </p:sp>
      <p:sp>
        <p:nvSpPr>
          <p:cNvPr id="37" name="Text 35"/>
          <p:cNvSpPr/>
          <p:nvPr/>
        </p:nvSpPr>
        <p:spPr>
          <a:xfrm>
            <a:off x="720626" y="3285083"/>
            <a:ext cx="4226415" cy="185166"/>
          </a:xfrm>
          <a:prstGeom prst="rect">
            <a:avLst/>
          </a:prstGeom>
          <a:noFill/>
          <a:ln/>
        </p:spPr>
        <p:txBody>
          <a:bodyPr wrap="square" lIns="0" tIns="0" rIns="0" bIns="0" rtlCol="0" anchor="t"/>
          <a:lstStyle/>
          <a:p>
            <a:pPr algn="l" indent="0" marL="0">
              <a:buNone/>
            </a:pPr>
            <a:r>
              <a:rPr lang="en-US" sz="1200" dirty="0">
                <a:solidFill>
                  <a:srgbClr val="9E8A7A"/>
                </a:solidFill>
                <a:latin typeface="Corbel" pitchFamily="34" charset="0"/>
                <a:ea typeface="Corbel" pitchFamily="34" charset="-122"/>
                <a:cs typeface="Corbel" pitchFamily="34" charset="-120"/>
              </a:rPr>
              <a:t>"I have to..."</a:t>
            </a:r>
            <a:endParaRPr lang="en-US" sz="1200" dirty="0"/>
          </a:p>
        </p:txBody>
      </p:sp>
      <p:sp>
        <p:nvSpPr>
          <p:cNvPr id="38" name="Text 36"/>
          <p:cNvSpPr/>
          <p:nvPr/>
        </p:nvSpPr>
        <p:spPr>
          <a:xfrm>
            <a:off x="4779913" y="3285083"/>
            <a:ext cx="4007807" cy="185166"/>
          </a:xfrm>
          <a:prstGeom prst="rect">
            <a:avLst/>
          </a:prstGeom>
          <a:noFill/>
          <a:ln/>
        </p:spPr>
        <p:txBody>
          <a:bodyPr wrap="square" lIns="0" tIns="0" rIns="0" bIns="0" rtlCol="0" anchor="t"/>
          <a:lstStyle/>
          <a:p>
            <a:pPr algn="l" indent="0" marL="0">
              <a:buNone/>
            </a:pPr>
            <a:r>
              <a:rPr lang="en-US" sz="1200" b="1" dirty="0">
                <a:solidFill>
                  <a:srgbClr val="3C2415"/>
                </a:solidFill>
                <a:latin typeface="Corbel" pitchFamily="34" charset="0"/>
                <a:ea typeface="Corbel" pitchFamily="34" charset="-122"/>
                <a:cs typeface="Corbel" pitchFamily="34" charset="-120"/>
              </a:rPr>
              <a:t>"I choose to..."</a:t>
            </a:r>
            <a:endParaRPr lang="en-US" sz="1200" dirty="0"/>
          </a:p>
        </p:txBody>
      </p:sp>
      <p:sp>
        <p:nvSpPr>
          <p:cNvPr id="39" name="Text 37"/>
          <p:cNvSpPr/>
          <p:nvPr/>
        </p:nvSpPr>
        <p:spPr>
          <a:xfrm>
            <a:off x="507950" y="3758059"/>
            <a:ext cx="8128099" cy="615851"/>
          </a:xfrm>
          <a:prstGeom prst="roundRect">
            <a:avLst>
              <a:gd name="adj" fmla="val 8249"/>
            </a:avLst>
          </a:prstGeom>
          <a:solidFill>
            <a:srgbClr val="FFFFFF"/>
          </a:solidFill>
          <a:ln w="9525">
            <a:solidFill>
              <a:srgbClr val="C09E30"/>
            </a:solidFill>
          </a:ln>
        </p:spPr>
        <p:txBody>
          <a:bodyPr wrap="square" rtlCol="0" anchor="ctr"/>
          <a:lstStyle/>
          <a:p>
            <a:pPr indent="0" marL="0">
              <a:buNone/>
            </a:pPr>
            <a:endParaRPr lang="en-US" dirty="0"/>
          </a:p>
        </p:txBody>
      </p:sp>
      <p:sp>
        <p:nvSpPr>
          <p:cNvPr id="40" name="Text 38"/>
          <p:cNvSpPr/>
          <p:nvPr/>
        </p:nvSpPr>
        <p:spPr>
          <a:xfrm>
            <a:off x="746075" y="3965972"/>
            <a:ext cx="962829" cy="216027"/>
          </a:xfrm>
          <a:prstGeom prst="rect">
            <a:avLst/>
          </a:prstGeom>
          <a:noFill/>
          <a:ln/>
        </p:spPr>
        <p:txBody>
          <a:bodyPr wrap="none" lIns="0" tIns="0" rIns="0" bIns="0" rtlCol="0" anchor="t"/>
          <a:lstStyle/>
          <a:p>
            <a:pPr algn="l" indent="0" marL="0">
              <a:buNone/>
            </a:pPr>
            <a:r>
              <a:rPr lang="en-US" sz="1300" b="1" dirty="0">
                <a:solidFill>
                  <a:srgbClr val="C09E30"/>
                </a:solidFill>
                <a:latin typeface="Corbel" pitchFamily="34" charset="0"/>
                <a:ea typeface="Corbel" pitchFamily="34" charset="-122"/>
                <a:cs typeface="Corbel" pitchFamily="34" charset="-120"/>
              </a:rPr>
              <a:t>ACTION:</a:t>
            </a:r>
            <a:endParaRPr lang="en-US" sz="1300" dirty="0"/>
          </a:p>
        </p:txBody>
      </p:sp>
      <p:sp>
        <p:nvSpPr>
          <p:cNvPr id="41" name="Text 39"/>
          <p:cNvSpPr/>
          <p:nvPr/>
        </p:nvSpPr>
        <p:spPr>
          <a:xfrm>
            <a:off x="1560761" y="3894534"/>
            <a:ext cx="7179022" cy="370332"/>
          </a:xfrm>
          <a:prstGeom prst="rect">
            <a:avLst/>
          </a:prstGeom>
          <a:noFill/>
          <a:ln/>
        </p:spPr>
        <p:txBody>
          <a:bodyPr wrap="square" lIns="0" tIns="0" rIns="0" bIns="0" rtlCol="0" anchor="t"/>
          <a:lstStyle/>
          <a:p>
            <a:pPr algn="l" indent="0" marL="0">
              <a:buNone/>
            </a:pPr>
            <a:r>
              <a:rPr lang="en-US" sz="1200" dirty="0">
                <a:solidFill>
                  <a:srgbClr val="3C2415"/>
                </a:solidFill>
                <a:latin typeface="Corbel" pitchFamily="34" charset="0"/>
                <a:ea typeface="Corbel" pitchFamily="34" charset="-122"/>
                <a:cs typeface="Corbel" pitchFamily="34" charset="-120"/>
              </a:rPr>
              <a:t>Pick your most common excuse. Rewrite it using the ownership frame above. Use it for the next 7 days.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z/my-project/download/ppt-slides/dark-gradient.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0" y="0"/>
            <a:ext cx="9144000" cy="5143500"/>
          </a:xfrm>
          <a:prstGeom prst="rect">
            <a:avLst/>
          </a:prstGeom>
          <a:solidFill>
            <a:srgbClr val="1E120A">
              <a:alpha val="35000"/>
            </a:srgbClr>
          </a:solidFill>
          <a:ln/>
        </p:spPr>
        <p:txBody>
          <a:bodyPr wrap="square" rtlCol="0" anchor="ctr"/>
          <a:lstStyle/>
          <a:p>
            <a:pPr indent="0" marL="0">
              <a:buNone/>
            </a:pPr>
            <a:endParaRPr lang="en-US" dirty="0"/>
          </a:p>
        </p:txBody>
      </p:sp>
      <p:sp>
        <p:nvSpPr>
          <p:cNvPr id="4" name="Text 1"/>
          <p:cNvSpPr/>
          <p:nvPr/>
        </p:nvSpPr>
        <p:spPr>
          <a:xfrm>
            <a:off x="558701" y="381000"/>
            <a:ext cx="1179165" cy="228600"/>
          </a:xfrm>
          <a:prstGeom prst="roundRect">
            <a:avLst>
              <a:gd name="adj" fmla="val 11111"/>
            </a:avLst>
          </a:prstGeom>
          <a:solidFill>
            <a:srgbClr val="C09E30"/>
          </a:solidFill>
          <a:ln/>
        </p:spPr>
        <p:txBody>
          <a:bodyPr wrap="square" rtlCol="0" anchor="ctr"/>
          <a:lstStyle/>
          <a:p>
            <a:pPr indent="0" marL="0">
              <a:buNone/>
            </a:pPr>
            <a:endParaRPr lang="en-US" dirty="0"/>
          </a:p>
        </p:txBody>
      </p:sp>
      <p:sp>
        <p:nvSpPr>
          <p:cNvPr id="5" name="Text 2"/>
          <p:cNvSpPr/>
          <p:nvPr/>
        </p:nvSpPr>
        <p:spPr>
          <a:xfrm>
            <a:off x="736402" y="419100"/>
            <a:ext cx="1153269" cy="164592"/>
          </a:xfrm>
          <a:prstGeom prst="rect">
            <a:avLst/>
          </a:prstGeom>
          <a:noFill/>
          <a:ln/>
        </p:spPr>
        <p:txBody>
          <a:bodyPr wrap="none" lIns="0" tIns="0" rIns="0" bIns="0" rtlCol="0" anchor="t"/>
          <a:lstStyle/>
          <a:p>
            <a:pPr algn="l" indent="0" marL="0">
              <a:buNone/>
            </a:pPr>
            <a:r>
              <a:rPr lang="en-US" sz="1100" b="1" spc="200" kern="0" dirty="0">
                <a:solidFill>
                  <a:srgbClr val="1E120A"/>
                </a:solidFill>
                <a:latin typeface="Corbel" pitchFamily="34" charset="0"/>
                <a:ea typeface="Corbel" pitchFamily="34" charset="-122"/>
                <a:cs typeface="Corbel" pitchFamily="34" charset="-120"/>
              </a:rPr>
              <a:t>PILLAR 3</a:t>
            </a:r>
            <a:endParaRPr lang="en-US" sz="1100" dirty="0"/>
          </a:p>
        </p:txBody>
      </p:sp>
      <p:sp>
        <p:nvSpPr>
          <p:cNvPr id="6" name="Text 3"/>
          <p:cNvSpPr/>
          <p:nvPr/>
        </p:nvSpPr>
        <p:spPr>
          <a:xfrm>
            <a:off x="558701" y="736550"/>
            <a:ext cx="8585299" cy="483489"/>
          </a:xfrm>
          <a:prstGeom prst="rect">
            <a:avLst/>
          </a:prstGeom>
          <a:noFill/>
          <a:ln/>
        </p:spPr>
        <p:txBody>
          <a:bodyPr wrap="square" lIns="0" tIns="0" rIns="0" bIns="0" rtlCol="0" anchor="t"/>
          <a:lstStyle/>
          <a:p>
            <a:pPr algn="l" indent="0" marL="0">
              <a:spcAft>
                <a:spcPts val="600"/>
              </a:spcAft>
              <a:buNone/>
            </a:pPr>
            <a:r>
              <a:rPr lang="en-US" sz="3000" b="1" dirty="0">
                <a:solidFill>
                  <a:srgbClr val="FFFFFF"/>
                </a:solidFill>
                <a:latin typeface="Palatino Linotype" pitchFamily="34" charset="0"/>
                <a:ea typeface="Palatino Linotype" pitchFamily="34" charset="-122"/>
                <a:cs typeface="Palatino Linotype" pitchFamily="34" charset="-120"/>
              </a:rPr>
              <a:t>Faith + Framework = Freedom</a:t>
            </a:r>
            <a:endParaRPr lang="en-US" sz="3000" dirty="0"/>
          </a:p>
        </p:txBody>
      </p:sp>
      <p:sp>
        <p:nvSpPr>
          <p:cNvPr id="7" name="Text 4"/>
          <p:cNvSpPr/>
          <p:nvPr/>
        </p:nvSpPr>
        <p:spPr>
          <a:xfrm>
            <a:off x="558701" y="1514326"/>
            <a:ext cx="2540050" cy="1900684"/>
          </a:xfrm>
          <a:prstGeom prst="roundRect">
            <a:avLst>
              <a:gd name="adj" fmla="val 2673"/>
            </a:avLst>
          </a:prstGeom>
          <a:solidFill>
            <a:srgbClr val="2E1B10">
              <a:alpha val="70000"/>
            </a:srgbClr>
          </a:solidFill>
          <a:ln/>
        </p:spPr>
        <p:txBody>
          <a:bodyPr wrap="square" rtlCol="0" anchor="ctr"/>
          <a:lstStyle/>
          <a:p>
            <a:pPr indent="0" marL="0">
              <a:buNone/>
            </a:pPr>
            <a:endParaRPr lang="en-US" dirty="0"/>
          </a:p>
        </p:txBody>
      </p:sp>
      <p:sp>
        <p:nvSpPr>
          <p:cNvPr id="8" name="Shape 5"/>
          <p:cNvSpPr/>
          <p:nvPr/>
        </p:nvSpPr>
        <p:spPr>
          <a:xfrm>
            <a:off x="558701" y="1533376"/>
            <a:ext cx="2540050" cy="0"/>
          </a:xfrm>
          <a:prstGeom prst="line">
            <a:avLst/>
          </a:prstGeom>
          <a:noFill/>
          <a:ln w="38100">
            <a:solidFill>
              <a:srgbClr val="C09E30"/>
            </a:solidFill>
            <a:prstDash val="solid"/>
          </a:ln>
        </p:spPr>
      </p:sp>
      <p:sp>
        <p:nvSpPr>
          <p:cNvPr id="9" name="Shape 6"/>
          <p:cNvSpPr/>
          <p:nvPr/>
        </p:nvSpPr>
        <p:spPr>
          <a:xfrm>
            <a:off x="3093988" y="1514326"/>
            <a:ext cx="0" cy="1900684"/>
          </a:xfrm>
          <a:prstGeom prst="line">
            <a:avLst/>
          </a:prstGeom>
          <a:noFill/>
          <a:ln w="9525">
            <a:solidFill>
              <a:srgbClr val="6B5443"/>
            </a:solidFill>
            <a:prstDash val="solid"/>
          </a:ln>
        </p:spPr>
      </p:sp>
      <p:sp>
        <p:nvSpPr>
          <p:cNvPr id="10" name="Shape 7"/>
          <p:cNvSpPr/>
          <p:nvPr/>
        </p:nvSpPr>
        <p:spPr>
          <a:xfrm>
            <a:off x="558701" y="3410248"/>
            <a:ext cx="2540050" cy="0"/>
          </a:xfrm>
          <a:prstGeom prst="line">
            <a:avLst/>
          </a:prstGeom>
          <a:noFill/>
          <a:ln w="9525">
            <a:solidFill>
              <a:srgbClr val="6B5443"/>
            </a:solidFill>
            <a:prstDash val="solid"/>
          </a:ln>
        </p:spPr>
      </p:sp>
      <p:sp>
        <p:nvSpPr>
          <p:cNvPr id="11" name="Shape 8"/>
          <p:cNvSpPr/>
          <p:nvPr/>
        </p:nvSpPr>
        <p:spPr>
          <a:xfrm>
            <a:off x="563463" y="1514326"/>
            <a:ext cx="0" cy="1900684"/>
          </a:xfrm>
          <a:prstGeom prst="line">
            <a:avLst/>
          </a:prstGeom>
          <a:noFill/>
          <a:ln w="9525">
            <a:solidFill>
              <a:srgbClr val="6B5443"/>
            </a:solidFill>
            <a:prstDash val="solid"/>
          </a:ln>
        </p:spPr>
      </p:sp>
      <p:sp>
        <p:nvSpPr>
          <p:cNvPr id="12" name="Text 9"/>
          <p:cNvSpPr/>
          <p:nvPr/>
        </p:nvSpPr>
        <p:spPr>
          <a:xfrm>
            <a:off x="771376" y="1755577"/>
            <a:ext cx="2960578" cy="288036"/>
          </a:xfrm>
          <a:prstGeom prst="rect">
            <a:avLst/>
          </a:prstGeom>
          <a:noFill/>
          <a:ln/>
        </p:spPr>
        <p:txBody>
          <a:bodyPr wrap="none" lIns="0" tIns="0" rIns="0" bIns="0" rtlCol="0" anchor="t"/>
          <a:lstStyle/>
          <a:p>
            <a:pPr algn="l" indent="0" marL="0">
              <a:spcAft>
                <a:spcPts val="400"/>
              </a:spcAft>
              <a:buNone/>
            </a:pPr>
            <a:r>
              <a:rPr lang="en-US" sz="1800" b="1" dirty="0">
                <a:solidFill>
                  <a:srgbClr val="C09E30"/>
                </a:solidFill>
                <a:latin typeface="Corbel" pitchFamily="34" charset="0"/>
                <a:ea typeface="Corbel" pitchFamily="34" charset="-122"/>
                <a:cs typeface="Corbel" pitchFamily="34" charset="-120"/>
              </a:rPr>
              <a:t>FAITH</a:t>
            </a:r>
            <a:endParaRPr lang="en-US" sz="1800" dirty="0"/>
          </a:p>
        </p:txBody>
      </p:sp>
      <p:sp>
        <p:nvSpPr>
          <p:cNvPr id="13" name="Text 10"/>
          <p:cNvSpPr/>
          <p:nvPr/>
        </p:nvSpPr>
        <p:spPr>
          <a:xfrm>
            <a:off x="771376" y="2073027"/>
            <a:ext cx="2749108" cy="216027"/>
          </a:xfrm>
          <a:prstGeom prst="rect">
            <a:avLst/>
          </a:prstGeom>
          <a:noFill/>
          <a:ln/>
        </p:spPr>
        <p:txBody>
          <a:bodyPr wrap="square" lIns="0" tIns="0" rIns="0" bIns="0" rtlCol="0" anchor="t"/>
          <a:lstStyle/>
          <a:p>
            <a:pPr algn="l" indent="0" marL="0">
              <a:spcAft>
                <a:spcPts val="600"/>
              </a:spcAft>
              <a:buNone/>
            </a:pPr>
            <a:r>
              <a:rPr lang="en-US" sz="1300" i="1" dirty="0">
                <a:solidFill>
                  <a:srgbClr val="CEBFB5"/>
                </a:solidFill>
                <a:latin typeface="Corbel" pitchFamily="34" charset="0"/>
                <a:ea typeface="Corbel" pitchFamily="34" charset="-122"/>
                <a:cs typeface="Corbel" pitchFamily="34" charset="-120"/>
              </a:rPr>
              <a:t>Courage</a:t>
            </a:r>
            <a:endParaRPr lang="en-US" sz="1300" dirty="0"/>
          </a:p>
        </p:txBody>
      </p:sp>
      <p:sp>
        <p:nvSpPr>
          <p:cNvPr id="14" name="Text 11"/>
          <p:cNvSpPr/>
          <p:nvPr/>
        </p:nvSpPr>
        <p:spPr>
          <a:xfrm>
            <a:off x="771376" y="2349252"/>
            <a:ext cx="2220434" cy="921329"/>
          </a:xfrm>
          <a:prstGeom prst="rect">
            <a:avLst/>
          </a:prstGeom>
          <a:noFill/>
          <a:ln/>
        </p:spPr>
        <p:txBody>
          <a:bodyPr wrap="square" lIns="0" tIns="0" rIns="0" bIns="0" rtlCol="0" anchor="t"/>
          <a:lstStyle/>
          <a:p>
            <a:pPr algn="l" indent="0" marL="0">
              <a:lnSpc>
                <a:spcPts val="1680"/>
              </a:lnSpc>
              <a:buNone/>
            </a:pPr>
            <a:r>
              <a:rPr lang="en-US" sz="1200" dirty="0">
                <a:solidFill>
                  <a:srgbClr val="9E8A7A"/>
                </a:solidFill>
                <a:latin typeface="Corbel" pitchFamily="34" charset="0"/>
                <a:ea typeface="Corbel" pitchFamily="34" charset="-122"/>
                <a:cs typeface="Corbel" pitchFamily="34" charset="-120"/>
              </a:rPr>
              <a:t>The conviction that you were created for more — and that God's plan includes your excellence.</a:t>
            </a:r>
            <a:endParaRPr lang="en-US" sz="1200" dirty="0"/>
          </a:p>
        </p:txBody>
      </p:sp>
      <p:sp>
        <p:nvSpPr>
          <p:cNvPr id="15" name="Text 12"/>
          <p:cNvSpPr/>
          <p:nvPr/>
        </p:nvSpPr>
        <p:spPr>
          <a:xfrm>
            <a:off x="3301901" y="1514326"/>
            <a:ext cx="2540198" cy="1900684"/>
          </a:xfrm>
          <a:prstGeom prst="roundRect">
            <a:avLst>
              <a:gd name="adj" fmla="val 2673"/>
            </a:avLst>
          </a:prstGeom>
          <a:solidFill>
            <a:srgbClr val="2E1B10">
              <a:alpha val="70000"/>
            </a:srgbClr>
          </a:solidFill>
          <a:ln/>
        </p:spPr>
        <p:txBody>
          <a:bodyPr wrap="square" rtlCol="0" anchor="ctr"/>
          <a:lstStyle/>
          <a:p>
            <a:pPr indent="0" marL="0">
              <a:buNone/>
            </a:pPr>
            <a:endParaRPr lang="en-US" dirty="0"/>
          </a:p>
        </p:txBody>
      </p:sp>
      <p:sp>
        <p:nvSpPr>
          <p:cNvPr id="16" name="Shape 13"/>
          <p:cNvSpPr/>
          <p:nvPr/>
        </p:nvSpPr>
        <p:spPr>
          <a:xfrm>
            <a:off x="3301901" y="1533376"/>
            <a:ext cx="2540198" cy="0"/>
          </a:xfrm>
          <a:prstGeom prst="line">
            <a:avLst/>
          </a:prstGeom>
          <a:noFill/>
          <a:ln w="38100">
            <a:solidFill>
              <a:srgbClr val="D4766A"/>
            </a:solidFill>
            <a:prstDash val="solid"/>
          </a:ln>
        </p:spPr>
      </p:sp>
      <p:sp>
        <p:nvSpPr>
          <p:cNvPr id="17" name="Shape 14"/>
          <p:cNvSpPr/>
          <p:nvPr/>
        </p:nvSpPr>
        <p:spPr>
          <a:xfrm>
            <a:off x="5837337" y="1514326"/>
            <a:ext cx="0" cy="1900684"/>
          </a:xfrm>
          <a:prstGeom prst="line">
            <a:avLst/>
          </a:prstGeom>
          <a:noFill/>
          <a:ln w="9525">
            <a:solidFill>
              <a:srgbClr val="6B5443"/>
            </a:solidFill>
            <a:prstDash val="solid"/>
          </a:ln>
        </p:spPr>
      </p:sp>
      <p:sp>
        <p:nvSpPr>
          <p:cNvPr id="18" name="Shape 15"/>
          <p:cNvSpPr/>
          <p:nvPr/>
        </p:nvSpPr>
        <p:spPr>
          <a:xfrm>
            <a:off x="3301901" y="3410248"/>
            <a:ext cx="2540198" cy="0"/>
          </a:xfrm>
          <a:prstGeom prst="line">
            <a:avLst/>
          </a:prstGeom>
          <a:noFill/>
          <a:ln w="9525">
            <a:solidFill>
              <a:srgbClr val="6B5443"/>
            </a:solidFill>
            <a:prstDash val="solid"/>
          </a:ln>
        </p:spPr>
      </p:sp>
      <p:sp>
        <p:nvSpPr>
          <p:cNvPr id="19" name="Shape 16"/>
          <p:cNvSpPr/>
          <p:nvPr/>
        </p:nvSpPr>
        <p:spPr>
          <a:xfrm>
            <a:off x="3306663" y="1514326"/>
            <a:ext cx="0" cy="1900684"/>
          </a:xfrm>
          <a:prstGeom prst="line">
            <a:avLst/>
          </a:prstGeom>
          <a:noFill/>
          <a:ln w="9525">
            <a:solidFill>
              <a:srgbClr val="6B5443"/>
            </a:solidFill>
            <a:prstDash val="solid"/>
          </a:ln>
        </p:spPr>
      </p:sp>
      <p:sp>
        <p:nvSpPr>
          <p:cNvPr id="20" name="Text 17"/>
          <p:cNvSpPr/>
          <p:nvPr/>
        </p:nvSpPr>
        <p:spPr>
          <a:xfrm>
            <a:off x="3514576" y="1755577"/>
            <a:ext cx="2960787" cy="288036"/>
          </a:xfrm>
          <a:prstGeom prst="rect">
            <a:avLst/>
          </a:prstGeom>
          <a:noFill/>
          <a:ln/>
        </p:spPr>
        <p:txBody>
          <a:bodyPr wrap="none" lIns="0" tIns="0" rIns="0" bIns="0" rtlCol="0" anchor="t"/>
          <a:lstStyle/>
          <a:p>
            <a:pPr algn="l" indent="0" marL="0">
              <a:spcAft>
                <a:spcPts val="400"/>
              </a:spcAft>
              <a:buNone/>
            </a:pPr>
            <a:r>
              <a:rPr lang="en-US" sz="1800" b="1" dirty="0">
                <a:solidFill>
                  <a:srgbClr val="D4766A"/>
                </a:solidFill>
                <a:latin typeface="Corbel" pitchFamily="34" charset="0"/>
                <a:ea typeface="Corbel" pitchFamily="34" charset="-122"/>
                <a:cs typeface="Corbel" pitchFamily="34" charset="-120"/>
              </a:rPr>
              <a:t>FRAMEWORK</a:t>
            </a:r>
            <a:endParaRPr lang="en-US" sz="1800" dirty="0"/>
          </a:p>
        </p:txBody>
      </p:sp>
      <p:sp>
        <p:nvSpPr>
          <p:cNvPr id="21" name="Text 18"/>
          <p:cNvSpPr/>
          <p:nvPr/>
        </p:nvSpPr>
        <p:spPr>
          <a:xfrm>
            <a:off x="3514576" y="2073027"/>
            <a:ext cx="2749302" cy="216027"/>
          </a:xfrm>
          <a:prstGeom prst="rect">
            <a:avLst/>
          </a:prstGeom>
          <a:noFill/>
          <a:ln/>
        </p:spPr>
        <p:txBody>
          <a:bodyPr wrap="square" lIns="0" tIns="0" rIns="0" bIns="0" rtlCol="0" anchor="t"/>
          <a:lstStyle/>
          <a:p>
            <a:pPr algn="l" indent="0" marL="0">
              <a:spcAft>
                <a:spcPts val="600"/>
              </a:spcAft>
              <a:buNone/>
            </a:pPr>
            <a:r>
              <a:rPr lang="en-US" sz="1300" i="1" dirty="0">
                <a:solidFill>
                  <a:srgbClr val="CEBFB5"/>
                </a:solidFill>
                <a:latin typeface="Corbel" pitchFamily="34" charset="0"/>
                <a:ea typeface="Corbel" pitchFamily="34" charset="-122"/>
                <a:cs typeface="Corbel" pitchFamily="34" charset="-120"/>
              </a:rPr>
              <a:t>Clarity</a:t>
            </a:r>
            <a:endParaRPr lang="en-US" sz="1300" dirty="0"/>
          </a:p>
        </p:txBody>
      </p:sp>
      <p:sp>
        <p:nvSpPr>
          <p:cNvPr id="22" name="Text 19"/>
          <p:cNvSpPr/>
          <p:nvPr/>
        </p:nvSpPr>
        <p:spPr>
          <a:xfrm>
            <a:off x="3514576" y="2349252"/>
            <a:ext cx="2220590" cy="690997"/>
          </a:xfrm>
          <a:prstGeom prst="rect">
            <a:avLst/>
          </a:prstGeom>
          <a:noFill/>
          <a:ln/>
        </p:spPr>
        <p:txBody>
          <a:bodyPr wrap="square" lIns="0" tIns="0" rIns="0" bIns="0" rtlCol="0" anchor="t"/>
          <a:lstStyle/>
          <a:p>
            <a:pPr algn="l" indent="0" marL="0">
              <a:lnSpc>
                <a:spcPts val="1680"/>
              </a:lnSpc>
              <a:buNone/>
            </a:pPr>
            <a:r>
              <a:rPr lang="en-US" sz="1200" dirty="0">
                <a:solidFill>
                  <a:srgbClr val="9E8A7A"/>
                </a:solidFill>
                <a:latin typeface="Corbel" pitchFamily="34" charset="0"/>
                <a:ea typeface="Corbel" pitchFamily="34" charset="-122"/>
                <a:cs typeface="Corbel" pitchFamily="34" charset="-120"/>
              </a:rPr>
              <a:t>The repeatable system that turns conviction into action — scripts, resets, and rituals.</a:t>
            </a:r>
            <a:endParaRPr lang="en-US" sz="1200" dirty="0"/>
          </a:p>
        </p:txBody>
      </p:sp>
      <p:sp>
        <p:nvSpPr>
          <p:cNvPr id="23" name="Text 20"/>
          <p:cNvSpPr/>
          <p:nvPr/>
        </p:nvSpPr>
        <p:spPr>
          <a:xfrm>
            <a:off x="6045250" y="1514326"/>
            <a:ext cx="2540050" cy="1900684"/>
          </a:xfrm>
          <a:prstGeom prst="roundRect">
            <a:avLst>
              <a:gd name="adj" fmla="val 2673"/>
            </a:avLst>
          </a:prstGeom>
          <a:solidFill>
            <a:srgbClr val="2E1B10">
              <a:alpha val="70000"/>
            </a:srgbClr>
          </a:solidFill>
          <a:ln/>
        </p:spPr>
        <p:txBody>
          <a:bodyPr wrap="square" rtlCol="0" anchor="ctr"/>
          <a:lstStyle/>
          <a:p>
            <a:pPr indent="0" marL="0">
              <a:buNone/>
            </a:pPr>
            <a:endParaRPr lang="en-US" dirty="0"/>
          </a:p>
        </p:txBody>
      </p:sp>
      <p:sp>
        <p:nvSpPr>
          <p:cNvPr id="24" name="Shape 21"/>
          <p:cNvSpPr/>
          <p:nvPr/>
        </p:nvSpPr>
        <p:spPr>
          <a:xfrm>
            <a:off x="6045250" y="1533376"/>
            <a:ext cx="2540050" cy="0"/>
          </a:xfrm>
          <a:prstGeom prst="line">
            <a:avLst/>
          </a:prstGeom>
          <a:noFill/>
          <a:ln w="38100">
            <a:solidFill>
              <a:srgbClr val="FFFFFF"/>
            </a:solidFill>
            <a:prstDash val="solid"/>
          </a:ln>
        </p:spPr>
      </p:sp>
      <p:sp>
        <p:nvSpPr>
          <p:cNvPr id="25" name="Shape 22"/>
          <p:cNvSpPr/>
          <p:nvPr/>
        </p:nvSpPr>
        <p:spPr>
          <a:xfrm>
            <a:off x="8580537" y="1514326"/>
            <a:ext cx="0" cy="1900684"/>
          </a:xfrm>
          <a:prstGeom prst="line">
            <a:avLst/>
          </a:prstGeom>
          <a:noFill/>
          <a:ln w="9525">
            <a:solidFill>
              <a:srgbClr val="6B5443"/>
            </a:solidFill>
            <a:prstDash val="solid"/>
          </a:ln>
        </p:spPr>
      </p:sp>
      <p:sp>
        <p:nvSpPr>
          <p:cNvPr id="26" name="Shape 23"/>
          <p:cNvSpPr/>
          <p:nvPr/>
        </p:nvSpPr>
        <p:spPr>
          <a:xfrm>
            <a:off x="6045250" y="3410248"/>
            <a:ext cx="2540050" cy="0"/>
          </a:xfrm>
          <a:prstGeom prst="line">
            <a:avLst/>
          </a:prstGeom>
          <a:noFill/>
          <a:ln w="9525">
            <a:solidFill>
              <a:srgbClr val="6B5443"/>
            </a:solidFill>
            <a:prstDash val="solid"/>
          </a:ln>
        </p:spPr>
      </p:sp>
      <p:sp>
        <p:nvSpPr>
          <p:cNvPr id="27" name="Shape 24"/>
          <p:cNvSpPr/>
          <p:nvPr/>
        </p:nvSpPr>
        <p:spPr>
          <a:xfrm>
            <a:off x="6050012" y="1514326"/>
            <a:ext cx="0" cy="1900684"/>
          </a:xfrm>
          <a:prstGeom prst="line">
            <a:avLst/>
          </a:prstGeom>
          <a:noFill/>
          <a:ln w="9525">
            <a:solidFill>
              <a:srgbClr val="6B5443"/>
            </a:solidFill>
            <a:prstDash val="solid"/>
          </a:ln>
        </p:spPr>
      </p:sp>
      <p:sp>
        <p:nvSpPr>
          <p:cNvPr id="28" name="Text 25"/>
          <p:cNvSpPr/>
          <p:nvPr/>
        </p:nvSpPr>
        <p:spPr>
          <a:xfrm>
            <a:off x="6257925" y="1755577"/>
            <a:ext cx="2886075" cy="288036"/>
          </a:xfrm>
          <a:prstGeom prst="rect">
            <a:avLst/>
          </a:prstGeom>
          <a:noFill/>
          <a:ln/>
        </p:spPr>
        <p:txBody>
          <a:bodyPr wrap="none" lIns="0" tIns="0" rIns="0" bIns="0" rtlCol="0" anchor="t"/>
          <a:lstStyle/>
          <a:p>
            <a:pPr algn="l" indent="0" marL="0">
              <a:spcAft>
                <a:spcPts val="400"/>
              </a:spcAft>
              <a:buNone/>
            </a:pPr>
            <a:r>
              <a:rPr lang="en-US" sz="1800" b="1" dirty="0">
                <a:solidFill>
                  <a:srgbClr val="FFFFFF"/>
                </a:solidFill>
                <a:latin typeface="Corbel" pitchFamily="34" charset="0"/>
                <a:ea typeface="Corbel" pitchFamily="34" charset="-122"/>
                <a:cs typeface="Corbel" pitchFamily="34" charset="-120"/>
              </a:rPr>
              <a:t>FREEDOM</a:t>
            </a:r>
            <a:endParaRPr lang="en-US" sz="1800" dirty="0"/>
          </a:p>
        </p:txBody>
      </p:sp>
      <p:sp>
        <p:nvSpPr>
          <p:cNvPr id="29" name="Text 26"/>
          <p:cNvSpPr/>
          <p:nvPr/>
        </p:nvSpPr>
        <p:spPr>
          <a:xfrm>
            <a:off x="6257925" y="2073027"/>
            <a:ext cx="2749108" cy="216027"/>
          </a:xfrm>
          <a:prstGeom prst="rect">
            <a:avLst/>
          </a:prstGeom>
          <a:noFill/>
          <a:ln/>
        </p:spPr>
        <p:txBody>
          <a:bodyPr wrap="square" lIns="0" tIns="0" rIns="0" bIns="0" rtlCol="0" anchor="t"/>
          <a:lstStyle/>
          <a:p>
            <a:pPr algn="l" indent="0" marL="0">
              <a:spcAft>
                <a:spcPts val="600"/>
              </a:spcAft>
              <a:buNone/>
            </a:pPr>
            <a:r>
              <a:rPr lang="en-US" sz="1300" i="1" dirty="0">
                <a:solidFill>
                  <a:srgbClr val="CEBFB5"/>
                </a:solidFill>
                <a:latin typeface="Corbel" pitchFamily="34" charset="0"/>
                <a:ea typeface="Corbel" pitchFamily="34" charset="-122"/>
                <a:cs typeface="Corbel" pitchFamily="34" charset="-120"/>
              </a:rPr>
              <a:t>Result</a:t>
            </a:r>
            <a:endParaRPr lang="en-US" sz="1300" dirty="0"/>
          </a:p>
        </p:txBody>
      </p:sp>
      <p:sp>
        <p:nvSpPr>
          <p:cNvPr id="30" name="Text 27"/>
          <p:cNvSpPr/>
          <p:nvPr/>
        </p:nvSpPr>
        <p:spPr>
          <a:xfrm>
            <a:off x="6257925" y="2349252"/>
            <a:ext cx="2220434" cy="921329"/>
          </a:xfrm>
          <a:prstGeom prst="rect">
            <a:avLst/>
          </a:prstGeom>
          <a:noFill/>
          <a:ln/>
        </p:spPr>
        <p:txBody>
          <a:bodyPr wrap="square" lIns="0" tIns="0" rIns="0" bIns="0" rtlCol="0" anchor="t"/>
          <a:lstStyle/>
          <a:p>
            <a:pPr algn="l" indent="0" marL="0">
              <a:lnSpc>
                <a:spcPts val="1680"/>
              </a:lnSpc>
              <a:buNone/>
            </a:pPr>
            <a:r>
              <a:rPr lang="en-US" sz="1200" dirty="0">
                <a:solidFill>
                  <a:srgbClr val="9E8A7A"/>
                </a:solidFill>
                <a:latin typeface="Corbel" pitchFamily="34" charset="0"/>
                <a:ea typeface="Corbel" pitchFamily="34" charset="-122"/>
                <a:cs typeface="Corbel" pitchFamily="34" charset="-120"/>
              </a:rPr>
              <a:t>When faith gives you courage and framework gives you clarity, freedom is the result you live in.</a:t>
            </a:r>
            <a:endParaRPr lang="en-US" sz="1200" dirty="0"/>
          </a:p>
        </p:txBody>
      </p:sp>
      <p:sp>
        <p:nvSpPr>
          <p:cNvPr id="31" name="Text 28"/>
          <p:cNvSpPr/>
          <p:nvPr/>
        </p:nvSpPr>
        <p:spPr>
          <a:xfrm>
            <a:off x="558701" y="3668911"/>
            <a:ext cx="8026598" cy="484882"/>
          </a:xfrm>
          <a:prstGeom prst="rect">
            <a:avLst/>
          </a:prstGeom>
          <a:solidFill>
            <a:srgbClr val="2E1B10">
              <a:alpha val="60000"/>
            </a:srgbClr>
          </a:solidFill>
          <a:ln/>
        </p:spPr>
        <p:txBody>
          <a:bodyPr wrap="square" rtlCol="0" anchor="ctr"/>
          <a:lstStyle/>
          <a:p>
            <a:pPr indent="0" marL="0">
              <a:buNone/>
            </a:pPr>
            <a:endParaRPr lang="en-US" dirty="0"/>
          </a:p>
        </p:txBody>
      </p:sp>
      <p:sp>
        <p:nvSpPr>
          <p:cNvPr id="32" name="Shape 29"/>
          <p:cNvSpPr/>
          <p:nvPr/>
        </p:nvSpPr>
        <p:spPr>
          <a:xfrm>
            <a:off x="582513" y="3668911"/>
            <a:ext cx="0" cy="484882"/>
          </a:xfrm>
          <a:prstGeom prst="line">
            <a:avLst/>
          </a:prstGeom>
          <a:noFill/>
          <a:ln w="47625">
            <a:solidFill>
              <a:srgbClr val="C09E30"/>
            </a:solidFill>
            <a:prstDash val="solid"/>
          </a:ln>
        </p:spPr>
      </p:sp>
      <p:sp>
        <p:nvSpPr>
          <p:cNvPr id="33" name="Text 30"/>
          <p:cNvSpPr/>
          <p:nvPr/>
        </p:nvSpPr>
        <p:spPr>
          <a:xfrm>
            <a:off x="834926" y="3795861"/>
            <a:ext cx="8273951" cy="249460"/>
          </a:xfrm>
          <a:prstGeom prst="rect">
            <a:avLst/>
          </a:prstGeom>
          <a:noFill/>
          <a:ln/>
        </p:spPr>
        <p:txBody>
          <a:bodyPr wrap="square" lIns="0" tIns="0" rIns="0" bIns="0" rtlCol="0" anchor="t"/>
          <a:lstStyle/>
          <a:p>
            <a:pPr algn="l" indent="0" marL="0">
              <a:lnSpc>
                <a:spcPts val="1820"/>
              </a:lnSpc>
              <a:buNone/>
            </a:pPr>
            <a:r>
              <a:rPr lang="en-US" sz="1300" i="1" dirty="0">
                <a:solidFill>
                  <a:srgbClr val="CEBFB5"/>
                </a:solidFill>
                <a:latin typeface="Palatino Linotype" pitchFamily="34" charset="0"/>
                <a:ea typeface="Palatino Linotype" pitchFamily="34" charset="-122"/>
                <a:cs typeface="Palatino Linotype" pitchFamily="34" charset="-120"/>
              </a:rPr>
              <a:t>"For God gave us a spirit not of fear but of power and love and self-control." — 2 Timothy 1:7</a:t>
            </a:r>
            <a:endParaRPr lang="en-US" sz="1300" dirty="0"/>
          </a:p>
        </p:txBody>
      </p:sp>
      <p:sp>
        <p:nvSpPr>
          <p:cNvPr id="34" name="Text 31"/>
          <p:cNvSpPr/>
          <p:nvPr/>
        </p:nvSpPr>
        <p:spPr>
          <a:xfrm>
            <a:off x="558701" y="4306193"/>
            <a:ext cx="8026598" cy="564952"/>
          </a:xfrm>
          <a:prstGeom prst="roundRect">
            <a:avLst>
              <a:gd name="adj" fmla="val 8992"/>
            </a:avLst>
          </a:prstGeom>
          <a:solidFill>
            <a:srgbClr val="C09E30">
              <a:alpha val="15000"/>
            </a:srgbClr>
          </a:solidFill>
          <a:ln w="9525">
            <a:solidFill>
              <a:srgbClr val="C09E30"/>
            </a:solidFill>
          </a:ln>
        </p:spPr>
        <p:txBody>
          <a:bodyPr wrap="square" rtlCol="0" anchor="ctr"/>
          <a:lstStyle/>
          <a:p>
            <a:pPr indent="0" marL="0">
              <a:buNone/>
            </a:pPr>
            <a:endParaRPr lang="en-US" dirty="0"/>
          </a:p>
        </p:txBody>
      </p:sp>
      <p:sp>
        <p:nvSpPr>
          <p:cNvPr id="35" name="Text 32"/>
          <p:cNvSpPr/>
          <p:nvPr/>
        </p:nvSpPr>
        <p:spPr>
          <a:xfrm>
            <a:off x="771376" y="4417219"/>
            <a:ext cx="7981310" cy="370332"/>
          </a:xfrm>
          <a:prstGeom prst="rect">
            <a:avLst/>
          </a:prstGeom>
          <a:noFill/>
          <a:ln/>
        </p:spPr>
        <p:txBody>
          <a:bodyPr wrap="square" lIns="0" tIns="0" rIns="0" bIns="0" rtlCol="0" anchor="t"/>
          <a:lstStyle/>
          <a:p>
            <a:pPr algn="l" indent="0" marL="0">
              <a:buNone/>
            </a:pPr>
            <a:r>
              <a:rPr lang="en-US" sz="1200" b="1" dirty="0">
                <a:solidFill>
                  <a:srgbClr val="C09E30"/>
                </a:solidFill>
                <a:latin typeface="Corbel" pitchFamily="34" charset="0"/>
                <a:ea typeface="Corbel" pitchFamily="34" charset="-122"/>
                <a:cs typeface="Corbel" pitchFamily="34" charset="-120"/>
              </a:rPr>
              <a:t>ACTION:</a:t>
            </a:r>
            <a:pPr algn="l" indent="0" marL="0">
              <a:buNone/>
            </a:pPr>
            <a:r>
              <a:rPr lang="en-US" sz="1200" dirty="0">
                <a:solidFill>
                  <a:srgbClr val="C09E30"/>
                </a:solidFill>
                <a:latin typeface="Corbel" pitchFamily="34" charset="0"/>
                <a:ea typeface="Corbel" pitchFamily="34" charset="-122"/>
                <a:cs typeface="Corbel" pitchFamily="34" charset="-120"/>
              </a:rPr>
              <a:t> </a:t>
            </a:r>
            <a:pPr algn="l" indent="0" marL="0">
              <a:buNone/>
            </a:pPr>
            <a:r>
              <a:rPr lang="en-US" sz="1200" dirty="0">
                <a:solidFill>
                  <a:srgbClr val="CEBFB5"/>
                </a:solidFill>
                <a:latin typeface="Corbel" pitchFamily="34" charset="0"/>
                <a:ea typeface="Corbel" pitchFamily="34" charset="-122"/>
                <a:cs typeface="Corbel" pitchFamily="34" charset="-120"/>
              </a:rPr>
              <a:t>Write one area where you've been relying on effort alone. Invite God into that area this week and apply one framework from this playbook.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669727"/>
          </a:xfrm>
          <a:prstGeom prst="rect">
            <a:avLst/>
          </a:prstGeom>
          <a:solidFill>
            <a:srgbClr val="2D1B10"/>
          </a:solidFill>
          <a:ln/>
        </p:spPr>
        <p:txBody>
          <a:bodyPr wrap="square" rtlCol="0" anchor="ctr"/>
          <a:lstStyle/>
          <a:p>
            <a:pPr indent="0" marL="0">
              <a:buNone/>
            </a:pPr>
            <a:endParaRPr lang="en-US" dirty="0"/>
          </a:p>
        </p:txBody>
      </p:sp>
      <p:sp>
        <p:nvSpPr>
          <p:cNvPr id="3" name="Text 1"/>
          <p:cNvSpPr/>
          <p:nvPr/>
        </p:nvSpPr>
        <p:spPr>
          <a:xfrm>
            <a:off x="457200" y="220563"/>
            <a:ext cx="2539901" cy="228600"/>
          </a:xfrm>
          <a:prstGeom prst="roundRect">
            <a:avLst>
              <a:gd name="adj" fmla="val 11111"/>
            </a:avLst>
          </a:prstGeom>
          <a:solidFill>
            <a:srgbClr val="C09E30"/>
          </a:solidFill>
          <a:ln/>
        </p:spPr>
        <p:txBody>
          <a:bodyPr wrap="square" rtlCol="0" anchor="ctr"/>
          <a:lstStyle/>
          <a:p>
            <a:pPr indent="0" marL="0">
              <a:buNone/>
            </a:pPr>
            <a:endParaRPr lang="en-US" dirty="0"/>
          </a:p>
        </p:txBody>
      </p:sp>
      <p:sp>
        <p:nvSpPr>
          <p:cNvPr id="4" name="Text 2"/>
          <p:cNvSpPr/>
          <p:nvPr/>
        </p:nvSpPr>
        <p:spPr>
          <a:xfrm>
            <a:off x="609600" y="258663"/>
            <a:ext cx="2972684" cy="164592"/>
          </a:xfrm>
          <a:prstGeom prst="rect">
            <a:avLst/>
          </a:prstGeom>
          <a:noFill/>
          <a:ln/>
        </p:spPr>
        <p:txBody>
          <a:bodyPr wrap="none" lIns="0" tIns="0" rIns="0" bIns="0" rtlCol="0" anchor="t"/>
          <a:lstStyle/>
          <a:p>
            <a:pPr algn="l" indent="0" marL="0">
              <a:buNone/>
            </a:pPr>
            <a:r>
              <a:rPr lang="en-US" sz="1100" b="1" spc="200" kern="0" dirty="0">
                <a:solidFill>
                  <a:srgbClr val="1E120A"/>
                </a:solidFill>
                <a:latin typeface="Corbel" pitchFamily="34" charset="0"/>
                <a:ea typeface="Corbel" pitchFamily="34" charset="-122"/>
                <a:cs typeface="Corbel" pitchFamily="34" charset="-120"/>
              </a:rPr>
              <a:t>THE OWNERSHIP SCRIPT</a:t>
            </a:r>
            <a:endParaRPr lang="en-US" sz="1100" dirty="0"/>
          </a:p>
        </p:txBody>
      </p:sp>
      <p:sp>
        <p:nvSpPr>
          <p:cNvPr id="5" name="Text 3"/>
          <p:cNvSpPr/>
          <p:nvPr/>
        </p:nvSpPr>
        <p:spPr>
          <a:xfrm>
            <a:off x="3174802" y="177701"/>
            <a:ext cx="4030087" cy="339471"/>
          </a:xfrm>
          <a:prstGeom prst="rect">
            <a:avLst/>
          </a:prstGeom>
          <a:noFill/>
          <a:ln/>
        </p:spPr>
        <p:txBody>
          <a:bodyPr wrap="none" lIns="0" tIns="0" rIns="0" bIns="0" rtlCol="0" anchor="t"/>
          <a:lstStyle/>
          <a:p>
            <a:pPr algn="l" indent="0" marL="0">
              <a:buNone/>
            </a:pPr>
            <a:r>
              <a:rPr lang="en-US" sz="2200" b="1" dirty="0">
                <a:solidFill>
                  <a:srgbClr val="FFFFFF"/>
                </a:solidFill>
                <a:latin typeface="Palatino Linotype" pitchFamily="34" charset="0"/>
                <a:ea typeface="Palatino Linotype" pitchFamily="34" charset="-122"/>
                <a:cs typeface="Palatino Linotype" pitchFamily="34" charset="-120"/>
              </a:rPr>
              <a:t>When a Client Hesitates</a:t>
            </a:r>
            <a:endParaRPr lang="en-US" sz="2200" dirty="0"/>
          </a:p>
        </p:txBody>
      </p:sp>
      <p:sp>
        <p:nvSpPr>
          <p:cNvPr id="6" name="Text 4"/>
          <p:cNvSpPr/>
          <p:nvPr/>
        </p:nvSpPr>
        <p:spPr>
          <a:xfrm>
            <a:off x="457200" y="872877"/>
            <a:ext cx="8229600" cy="1342579"/>
          </a:xfrm>
          <a:prstGeom prst="roundRect">
            <a:avLst>
              <a:gd name="adj" fmla="val 3784"/>
            </a:avLst>
          </a:prstGeom>
          <a:solidFill>
            <a:srgbClr val="F5F2F0"/>
          </a:solidFill>
          <a:ln/>
        </p:spPr>
        <p:txBody>
          <a:bodyPr wrap="square" rtlCol="0" anchor="ctr"/>
          <a:lstStyle/>
          <a:p>
            <a:pPr indent="0" marL="0">
              <a:buNone/>
            </a:pPr>
            <a:endParaRPr lang="en-US" dirty="0"/>
          </a:p>
        </p:txBody>
      </p:sp>
      <p:sp>
        <p:nvSpPr>
          <p:cNvPr id="7" name="Shape 5"/>
          <p:cNvSpPr/>
          <p:nvPr/>
        </p:nvSpPr>
        <p:spPr>
          <a:xfrm>
            <a:off x="457200" y="877639"/>
            <a:ext cx="8229600" cy="0"/>
          </a:xfrm>
          <a:prstGeom prst="line">
            <a:avLst/>
          </a:prstGeom>
          <a:noFill/>
          <a:ln w="9525">
            <a:solidFill>
              <a:srgbClr val="CEBFB5"/>
            </a:solidFill>
            <a:prstDash val="solid"/>
          </a:ln>
        </p:spPr>
      </p:sp>
      <p:sp>
        <p:nvSpPr>
          <p:cNvPr id="8" name="Shape 6"/>
          <p:cNvSpPr/>
          <p:nvPr/>
        </p:nvSpPr>
        <p:spPr>
          <a:xfrm>
            <a:off x="8682038" y="872877"/>
            <a:ext cx="0" cy="1342579"/>
          </a:xfrm>
          <a:prstGeom prst="line">
            <a:avLst/>
          </a:prstGeom>
          <a:noFill/>
          <a:ln w="9525">
            <a:solidFill>
              <a:srgbClr val="CEBFB5"/>
            </a:solidFill>
            <a:prstDash val="solid"/>
          </a:ln>
        </p:spPr>
      </p:sp>
      <p:sp>
        <p:nvSpPr>
          <p:cNvPr id="9" name="Shape 7"/>
          <p:cNvSpPr/>
          <p:nvPr/>
        </p:nvSpPr>
        <p:spPr>
          <a:xfrm>
            <a:off x="457200" y="2210693"/>
            <a:ext cx="8229600" cy="0"/>
          </a:xfrm>
          <a:prstGeom prst="line">
            <a:avLst/>
          </a:prstGeom>
          <a:noFill/>
          <a:ln w="9525">
            <a:solidFill>
              <a:srgbClr val="CEBFB5"/>
            </a:solidFill>
            <a:prstDash val="solid"/>
          </a:ln>
        </p:spPr>
      </p:sp>
      <p:sp>
        <p:nvSpPr>
          <p:cNvPr id="10" name="Shape 8"/>
          <p:cNvSpPr/>
          <p:nvPr/>
        </p:nvSpPr>
        <p:spPr>
          <a:xfrm>
            <a:off x="481012" y="872877"/>
            <a:ext cx="0" cy="1342579"/>
          </a:xfrm>
          <a:prstGeom prst="line">
            <a:avLst/>
          </a:prstGeom>
          <a:noFill/>
          <a:ln w="47625">
            <a:solidFill>
              <a:srgbClr val="C09E30"/>
            </a:solidFill>
            <a:prstDash val="solid"/>
          </a:ln>
        </p:spPr>
      </p:sp>
      <p:sp>
        <p:nvSpPr>
          <p:cNvPr id="11" name="Text 9"/>
          <p:cNvSpPr/>
          <p:nvPr/>
        </p:nvSpPr>
        <p:spPr>
          <a:xfrm>
            <a:off x="733425" y="1034802"/>
            <a:ext cx="8410575" cy="216027"/>
          </a:xfrm>
          <a:prstGeom prst="rect">
            <a:avLst/>
          </a:prstGeom>
          <a:noFill/>
          <a:ln/>
        </p:spPr>
        <p:txBody>
          <a:bodyPr wrap="none" lIns="0" tIns="0" rIns="0" bIns="0" rtlCol="0" anchor="t"/>
          <a:lstStyle/>
          <a:p>
            <a:pPr algn="l" indent="0" marL="0">
              <a:spcAft>
                <a:spcPts val="600"/>
              </a:spcAft>
              <a:buNone/>
            </a:pPr>
            <a:r>
              <a:rPr lang="en-US" sz="1300" b="1" dirty="0">
                <a:solidFill>
                  <a:srgbClr val="C09E30"/>
                </a:solidFill>
                <a:latin typeface="Corbel" pitchFamily="34" charset="0"/>
                <a:ea typeface="Corbel" pitchFamily="34" charset="-122"/>
                <a:cs typeface="Corbel" pitchFamily="34" charset="-120"/>
              </a:rPr>
              <a:t>WHEN A CLIENT HESITATES</a:t>
            </a:r>
            <a:endParaRPr lang="en-US" sz="1300" dirty="0"/>
          </a:p>
        </p:txBody>
      </p:sp>
      <p:sp>
        <p:nvSpPr>
          <p:cNvPr id="12" name="Text 10"/>
          <p:cNvSpPr/>
          <p:nvPr/>
        </p:nvSpPr>
        <p:spPr>
          <a:xfrm>
            <a:off x="733425" y="1311027"/>
            <a:ext cx="8101013" cy="801904"/>
          </a:xfrm>
          <a:prstGeom prst="rect">
            <a:avLst/>
          </a:prstGeom>
          <a:noFill/>
          <a:ln/>
        </p:spPr>
        <p:txBody>
          <a:bodyPr wrap="square" lIns="0" tIns="0" rIns="0" bIns="0" rtlCol="0" anchor="t"/>
          <a:lstStyle/>
          <a:p>
            <a:pPr algn="l" indent="0" marL="0">
              <a:lnSpc>
                <a:spcPts val="1950"/>
              </a:lnSpc>
              <a:buNone/>
            </a:pPr>
            <a:r>
              <a:rPr lang="en-US" sz="1300" i="1" dirty="0">
                <a:solidFill>
                  <a:srgbClr val="3C2415"/>
                </a:solidFill>
                <a:latin typeface="Palatino Linotype" pitchFamily="34" charset="0"/>
                <a:ea typeface="Palatino Linotype" pitchFamily="34" charset="-122"/>
                <a:cs typeface="Palatino Linotype" pitchFamily="34" charset="-120"/>
              </a:rPr>
              <a:t>"I appreciate you sharing that concern. Let me be honest — I should have addressed this earlier in our conversation. Here's what I want you to know: I take full responsibility for making sure you feel confident. So let me ask — what would need to be true for you to feel 100% about moving forward?"</a:t>
            </a:r>
            <a:endParaRPr lang="en-US" sz="1300" dirty="0"/>
          </a:p>
        </p:txBody>
      </p:sp>
      <p:sp>
        <p:nvSpPr>
          <p:cNvPr id="13" name="Text 11"/>
          <p:cNvSpPr/>
          <p:nvPr/>
        </p:nvSpPr>
        <p:spPr>
          <a:xfrm>
            <a:off x="457200" y="2367855"/>
            <a:ext cx="8229600" cy="1342579"/>
          </a:xfrm>
          <a:prstGeom prst="roundRect">
            <a:avLst>
              <a:gd name="adj" fmla="val 3784"/>
            </a:avLst>
          </a:prstGeom>
          <a:solidFill>
            <a:srgbClr val="F5F2F0"/>
          </a:solidFill>
          <a:ln/>
        </p:spPr>
        <p:txBody>
          <a:bodyPr wrap="square" rtlCol="0" anchor="ctr"/>
          <a:lstStyle/>
          <a:p>
            <a:pPr indent="0" marL="0">
              <a:buNone/>
            </a:pPr>
            <a:endParaRPr lang="en-US" dirty="0"/>
          </a:p>
        </p:txBody>
      </p:sp>
      <p:sp>
        <p:nvSpPr>
          <p:cNvPr id="14" name="Shape 12"/>
          <p:cNvSpPr/>
          <p:nvPr/>
        </p:nvSpPr>
        <p:spPr>
          <a:xfrm>
            <a:off x="457200" y="2372618"/>
            <a:ext cx="8229600" cy="0"/>
          </a:xfrm>
          <a:prstGeom prst="line">
            <a:avLst/>
          </a:prstGeom>
          <a:noFill/>
          <a:ln w="9525">
            <a:solidFill>
              <a:srgbClr val="CEBFB5"/>
            </a:solidFill>
            <a:prstDash val="solid"/>
          </a:ln>
        </p:spPr>
      </p:sp>
      <p:sp>
        <p:nvSpPr>
          <p:cNvPr id="15" name="Shape 13"/>
          <p:cNvSpPr/>
          <p:nvPr/>
        </p:nvSpPr>
        <p:spPr>
          <a:xfrm>
            <a:off x="8682038" y="2367855"/>
            <a:ext cx="0" cy="1342579"/>
          </a:xfrm>
          <a:prstGeom prst="line">
            <a:avLst/>
          </a:prstGeom>
          <a:noFill/>
          <a:ln w="9525">
            <a:solidFill>
              <a:srgbClr val="CEBFB5"/>
            </a:solidFill>
            <a:prstDash val="solid"/>
          </a:ln>
        </p:spPr>
      </p:sp>
      <p:sp>
        <p:nvSpPr>
          <p:cNvPr id="16" name="Shape 14"/>
          <p:cNvSpPr/>
          <p:nvPr/>
        </p:nvSpPr>
        <p:spPr>
          <a:xfrm>
            <a:off x="457200" y="3705671"/>
            <a:ext cx="8229600" cy="0"/>
          </a:xfrm>
          <a:prstGeom prst="line">
            <a:avLst/>
          </a:prstGeom>
          <a:noFill/>
          <a:ln w="9525">
            <a:solidFill>
              <a:srgbClr val="CEBFB5"/>
            </a:solidFill>
            <a:prstDash val="solid"/>
          </a:ln>
        </p:spPr>
      </p:sp>
      <p:sp>
        <p:nvSpPr>
          <p:cNvPr id="17" name="Shape 15"/>
          <p:cNvSpPr/>
          <p:nvPr/>
        </p:nvSpPr>
        <p:spPr>
          <a:xfrm>
            <a:off x="481012" y="2367855"/>
            <a:ext cx="0" cy="1342579"/>
          </a:xfrm>
          <a:prstGeom prst="line">
            <a:avLst/>
          </a:prstGeom>
          <a:noFill/>
          <a:ln w="47625">
            <a:solidFill>
              <a:srgbClr val="D4766A"/>
            </a:solidFill>
            <a:prstDash val="solid"/>
          </a:ln>
        </p:spPr>
      </p:sp>
      <p:sp>
        <p:nvSpPr>
          <p:cNvPr id="18" name="Text 16"/>
          <p:cNvSpPr/>
          <p:nvPr/>
        </p:nvSpPr>
        <p:spPr>
          <a:xfrm>
            <a:off x="733425" y="2529780"/>
            <a:ext cx="8410575" cy="216027"/>
          </a:xfrm>
          <a:prstGeom prst="rect">
            <a:avLst/>
          </a:prstGeom>
          <a:noFill/>
          <a:ln/>
        </p:spPr>
        <p:txBody>
          <a:bodyPr wrap="none" lIns="0" tIns="0" rIns="0" bIns="0" rtlCol="0" anchor="t"/>
          <a:lstStyle/>
          <a:p>
            <a:pPr algn="l" indent="0" marL="0">
              <a:spcAft>
                <a:spcPts val="600"/>
              </a:spcAft>
              <a:buNone/>
            </a:pPr>
            <a:r>
              <a:rPr lang="en-US" sz="1300" b="1" dirty="0">
                <a:solidFill>
                  <a:srgbClr val="D4766A"/>
                </a:solidFill>
                <a:latin typeface="Corbel" pitchFamily="34" charset="0"/>
                <a:ea typeface="Corbel" pitchFamily="34" charset="-122"/>
                <a:cs typeface="Corbel" pitchFamily="34" charset="-120"/>
              </a:rPr>
              <a:t>WHEN A PROSPECT GHOSTS</a:t>
            </a:r>
            <a:endParaRPr lang="en-US" sz="1300" dirty="0"/>
          </a:p>
        </p:txBody>
      </p:sp>
      <p:sp>
        <p:nvSpPr>
          <p:cNvPr id="19" name="Text 17"/>
          <p:cNvSpPr/>
          <p:nvPr/>
        </p:nvSpPr>
        <p:spPr>
          <a:xfrm>
            <a:off x="733425" y="2806005"/>
            <a:ext cx="8101013" cy="801904"/>
          </a:xfrm>
          <a:prstGeom prst="rect">
            <a:avLst/>
          </a:prstGeom>
          <a:noFill/>
          <a:ln/>
        </p:spPr>
        <p:txBody>
          <a:bodyPr wrap="square" lIns="0" tIns="0" rIns="0" bIns="0" rtlCol="0" anchor="t"/>
          <a:lstStyle/>
          <a:p>
            <a:pPr algn="l" indent="0" marL="0">
              <a:lnSpc>
                <a:spcPts val="1950"/>
              </a:lnSpc>
              <a:buNone/>
            </a:pPr>
            <a:r>
              <a:rPr lang="en-US" sz="1300" i="1" dirty="0">
                <a:solidFill>
                  <a:srgbClr val="3C2415"/>
                </a:solidFill>
                <a:latin typeface="Palatino Linotype" pitchFamily="34" charset="0"/>
                <a:ea typeface="Palatino Linotype" pitchFamily="34" charset="-122"/>
                <a:cs typeface="Palatino Linotype" pitchFamily="34" charset="-120"/>
              </a:rPr>
              <a:t>"Hey [Name], I haven't heard back and I want to own my side of this — I clearly didn't make the value compelling enough, or I missed something that matters to you. Either way, that's on me. If you're still open, I'd love one more chance to get it right. If not, I completely understand."</a:t>
            </a:r>
            <a:endParaRPr lang="en-US" sz="1300" dirty="0"/>
          </a:p>
        </p:txBody>
      </p:sp>
      <p:sp>
        <p:nvSpPr>
          <p:cNvPr id="20" name="Text 18"/>
          <p:cNvSpPr/>
          <p:nvPr/>
        </p:nvSpPr>
        <p:spPr>
          <a:xfrm>
            <a:off x="457200" y="3862834"/>
            <a:ext cx="8229600" cy="629543"/>
          </a:xfrm>
          <a:prstGeom prst="roundRect">
            <a:avLst>
              <a:gd name="adj" fmla="val 8069"/>
            </a:avLst>
          </a:prstGeom>
          <a:solidFill>
            <a:srgbClr val="E9E2DC"/>
          </a:solidFill>
          <a:ln/>
        </p:spPr>
        <p:txBody>
          <a:bodyPr wrap="square" rtlCol="0" anchor="ctr"/>
          <a:lstStyle/>
          <a:p>
            <a:pPr indent="0" marL="0">
              <a:buNone/>
            </a:pPr>
            <a:endParaRPr lang="en-US" dirty="0"/>
          </a:p>
        </p:txBody>
      </p:sp>
      <p:sp>
        <p:nvSpPr>
          <p:cNvPr id="21" name="Text 19"/>
          <p:cNvSpPr/>
          <p:nvPr/>
        </p:nvSpPr>
        <p:spPr>
          <a:xfrm>
            <a:off x="660350" y="4077593"/>
            <a:ext cx="1001375" cy="216027"/>
          </a:xfrm>
          <a:prstGeom prst="rect">
            <a:avLst/>
          </a:prstGeom>
          <a:noFill/>
          <a:ln/>
        </p:spPr>
        <p:txBody>
          <a:bodyPr wrap="none" lIns="0" tIns="0" rIns="0" bIns="0" rtlCol="0" anchor="t"/>
          <a:lstStyle/>
          <a:p>
            <a:pPr algn="l" indent="0" marL="0">
              <a:buNone/>
            </a:pPr>
            <a:r>
              <a:rPr lang="en-US" sz="1300" b="1" dirty="0">
                <a:solidFill>
                  <a:srgbClr val="C09E30"/>
                </a:solidFill>
                <a:latin typeface="Corbel" pitchFamily="34" charset="0"/>
                <a:ea typeface="Corbel" pitchFamily="34" charset="-122"/>
                <a:cs typeface="Corbel" pitchFamily="34" charset="-120"/>
              </a:rPr>
              <a:t>PRO TIP:</a:t>
            </a:r>
            <a:endParaRPr lang="en-US" sz="1300" dirty="0"/>
          </a:p>
        </p:txBody>
      </p:sp>
      <p:sp>
        <p:nvSpPr>
          <p:cNvPr id="22" name="Text 20"/>
          <p:cNvSpPr/>
          <p:nvPr/>
        </p:nvSpPr>
        <p:spPr>
          <a:xfrm>
            <a:off x="1502569" y="3964335"/>
            <a:ext cx="7330135" cy="460665"/>
          </a:xfrm>
          <a:prstGeom prst="rect">
            <a:avLst/>
          </a:prstGeom>
          <a:noFill/>
          <a:ln/>
        </p:spPr>
        <p:txBody>
          <a:bodyPr wrap="square" lIns="0" tIns="0" rIns="0" bIns="0" rtlCol="0" anchor="t"/>
          <a:lstStyle/>
          <a:p>
            <a:pPr algn="l" indent="0" marL="0">
              <a:lnSpc>
                <a:spcPts val="1680"/>
              </a:lnSpc>
              <a:buNone/>
            </a:pPr>
            <a:r>
              <a:rPr lang="en-US" sz="1200" dirty="0">
                <a:solidFill>
                  <a:srgbClr val="3C2415"/>
                </a:solidFill>
                <a:latin typeface="Corbel" pitchFamily="34" charset="0"/>
                <a:ea typeface="Corbel" pitchFamily="34" charset="-122"/>
                <a:cs typeface="Corbel" pitchFamily="34" charset="-120"/>
              </a:rPr>
              <a:t>The magic isn't in the script — it's in the willingness to say "that's on me." Ownership disarms resistance faster than any closing technique.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F0"/>
        </a:solidFill>
      </p:bgPr>
    </p:bg>
    <p:spTree>
      <p:nvGrpSpPr>
        <p:cNvPr id="1" name=""/>
        <p:cNvGrpSpPr/>
        <p:nvPr/>
      </p:nvGrpSpPr>
      <p:grpSpPr>
        <a:xfrm>
          <a:off x="0" y="0"/>
          <a:ext cx="0" cy="0"/>
          <a:chOff x="0" y="0"/>
          <a:chExt cx="0" cy="0"/>
        </a:xfrm>
      </p:grpSpPr>
      <p:sp>
        <p:nvSpPr>
          <p:cNvPr id="2" name="Text 0"/>
          <p:cNvSpPr/>
          <p:nvPr/>
        </p:nvSpPr>
        <p:spPr>
          <a:xfrm>
            <a:off x="0" y="0"/>
            <a:ext cx="9144000" cy="669727"/>
          </a:xfrm>
          <a:prstGeom prst="rect">
            <a:avLst/>
          </a:prstGeom>
          <a:solidFill>
            <a:srgbClr val="2D1B10"/>
          </a:solidFill>
          <a:ln/>
        </p:spPr>
        <p:txBody>
          <a:bodyPr wrap="square" rtlCol="0" anchor="ctr"/>
          <a:lstStyle/>
          <a:p>
            <a:pPr indent="0" marL="0">
              <a:buNone/>
            </a:pPr>
            <a:endParaRPr lang="en-US" dirty="0"/>
          </a:p>
        </p:txBody>
      </p:sp>
      <p:sp>
        <p:nvSpPr>
          <p:cNvPr id="3" name="Text 1"/>
          <p:cNvSpPr/>
          <p:nvPr/>
        </p:nvSpPr>
        <p:spPr>
          <a:xfrm>
            <a:off x="457200" y="220563"/>
            <a:ext cx="2539901" cy="228600"/>
          </a:xfrm>
          <a:prstGeom prst="roundRect">
            <a:avLst>
              <a:gd name="adj" fmla="val 11111"/>
            </a:avLst>
          </a:prstGeom>
          <a:solidFill>
            <a:srgbClr val="C09E30"/>
          </a:solidFill>
          <a:ln/>
        </p:spPr>
        <p:txBody>
          <a:bodyPr wrap="square" rtlCol="0" anchor="ctr"/>
          <a:lstStyle/>
          <a:p>
            <a:pPr indent="0" marL="0">
              <a:buNone/>
            </a:pPr>
            <a:endParaRPr lang="en-US" dirty="0"/>
          </a:p>
        </p:txBody>
      </p:sp>
      <p:sp>
        <p:nvSpPr>
          <p:cNvPr id="4" name="Text 2"/>
          <p:cNvSpPr/>
          <p:nvPr/>
        </p:nvSpPr>
        <p:spPr>
          <a:xfrm>
            <a:off x="609600" y="258663"/>
            <a:ext cx="2972684" cy="164592"/>
          </a:xfrm>
          <a:prstGeom prst="rect">
            <a:avLst/>
          </a:prstGeom>
          <a:noFill/>
          <a:ln/>
        </p:spPr>
        <p:txBody>
          <a:bodyPr wrap="none" lIns="0" tIns="0" rIns="0" bIns="0" rtlCol="0" anchor="t"/>
          <a:lstStyle/>
          <a:p>
            <a:pPr algn="l" indent="0" marL="0">
              <a:buNone/>
            </a:pPr>
            <a:r>
              <a:rPr lang="en-US" sz="1100" b="1" spc="200" kern="0" dirty="0">
                <a:solidFill>
                  <a:srgbClr val="1E120A"/>
                </a:solidFill>
                <a:latin typeface="Corbel" pitchFamily="34" charset="0"/>
                <a:ea typeface="Corbel" pitchFamily="34" charset="-122"/>
                <a:cs typeface="Corbel" pitchFamily="34" charset="-120"/>
              </a:rPr>
              <a:t>THE OWNERSHIP SCRIPT</a:t>
            </a:r>
            <a:endParaRPr lang="en-US" sz="1100" dirty="0"/>
          </a:p>
        </p:txBody>
      </p:sp>
      <p:sp>
        <p:nvSpPr>
          <p:cNvPr id="5" name="Text 3"/>
          <p:cNvSpPr/>
          <p:nvPr/>
        </p:nvSpPr>
        <p:spPr>
          <a:xfrm>
            <a:off x="3174802" y="177701"/>
            <a:ext cx="3331875" cy="339471"/>
          </a:xfrm>
          <a:prstGeom prst="rect">
            <a:avLst/>
          </a:prstGeom>
          <a:noFill/>
          <a:ln/>
        </p:spPr>
        <p:txBody>
          <a:bodyPr wrap="none" lIns="0" tIns="0" rIns="0" bIns="0" rtlCol="0" anchor="t"/>
          <a:lstStyle/>
          <a:p>
            <a:pPr algn="l" indent="0" marL="0">
              <a:buNone/>
            </a:pPr>
            <a:r>
              <a:rPr lang="en-US" sz="2200" b="1" dirty="0">
                <a:solidFill>
                  <a:srgbClr val="FFFFFF"/>
                </a:solidFill>
                <a:latin typeface="Palatino Linotype" pitchFamily="34" charset="0"/>
                <a:ea typeface="Palatino Linotype" pitchFamily="34" charset="-122"/>
                <a:cs typeface="Palatino Linotype" pitchFamily="34" charset="-120"/>
              </a:rPr>
              <a:t>Team &amp; Leadership</a:t>
            </a:r>
            <a:endParaRPr lang="en-US" sz="2200" dirty="0"/>
          </a:p>
        </p:txBody>
      </p:sp>
      <p:sp>
        <p:nvSpPr>
          <p:cNvPr id="6" name="Text 4"/>
          <p:cNvSpPr/>
          <p:nvPr/>
        </p:nvSpPr>
        <p:spPr>
          <a:xfrm>
            <a:off x="457200" y="847427"/>
            <a:ext cx="8229600" cy="1221284"/>
          </a:xfrm>
          <a:prstGeom prst="roundRect">
            <a:avLst>
              <a:gd name="adj" fmla="val 4160"/>
            </a:avLst>
          </a:prstGeom>
          <a:solidFill>
            <a:srgbClr val="FFFFFF"/>
          </a:solidFill>
          <a:ln/>
        </p:spPr>
        <p:txBody>
          <a:bodyPr wrap="square" rtlCol="0" anchor="ctr"/>
          <a:lstStyle/>
          <a:p>
            <a:pPr indent="0" marL="0">
              <a:buNone/>
            </a:pPr>
            <a:endParaRPr lang="en-US" dirty="0"/>
          </a:p>
        </p:txBody>
      </p:sp>
      <p:sp>
        <p:nvSpPr>
          <p:cNvPr id="7" name="Shape 5"/>
          <p:cNvSpPr/>
          <p:nvPr/>
        </p:nvSpPr>
        <p:spPr>
          <a:xfrm>
            <a:off x="457200" y="852190"/>
            <a:ext cx="8229600" cy="0"/>
          </a:xfrm>
          <a:prstGeom prst="line">
            <a:avLst/>
          </a:prstGeom>
          <a:noFill/>
          <a:ln w="9525">
            <a:solidFill>
              <a:srgbClr val="CEBFB5"/>
            </a:solidFill>
            <a:prstDash val="solid"/>
          </a:ln>
        </p:spPr>
      </p:sp>
      <p:sp>
        <p:nvSpPr>
          <p:cNvPr id="8" name="Shape 6"/>
          <p:cNvSpPr/>
          <p:nvPr/>
        </p:nvSpPr>
        <p:spPr>
          <a:xfrm>
            <a:off x="8682038" y="847427"/>
            <a:ext cx="0" cy="1221284"/>
          </a:xfrm>
          <a:prstGeom prst="line">
            <a:avLst/>
          </a:prstGeom>
          <a:noFill/>
          <a:ln w="9525">
            <a:solidFill>
              <a:srgbClr val="CEBFB5"/>
            </a:solidFill>
            <a:prstDash val="solid"/>
          </a:ln>
        </p:spPr>
      </p:sp>
      <p:sp>
        <p:nvSpPr>
          <p:cNvPr id="9" name="Shape 7"/>
          <p:cNvSpPr/>
          <p:nvPr/>
        </p:nvSpPr>
        <p:spPr>
          <a:xfrm>
            <a:off x="457200" y="2063948"/>
            <a:ext cx="8229600" cy="0"/>
          </a:xfrm>
          <a:prstGeom prst="line">
            <a:avLst/>
          </a:prstGeom>
          <a:noFill/>
          <a:ln w="9525">
            <a:solidFill>
              <a:srgbClr val="CEBFB5"/>
            </a:solidFill>
            <a:prstDash val="solid"/>
          </a:ln>
        </p:spPr>
      </p:sp>
      <p:sp>
        <p:nvSpPr>
          <p:cNvPr id="10" name="Shape 8"/>
          <p:cNvSpPr/>
          <p:nvPr/>
        </p:nvSpPr>
        <p:spPr>
          <a:xfrm>
            <a:off x="481012" y="847427"/>
            <a:ext cx="0" cy="1221284"/>
          </a:xfrm>
          <a:prstGeom prst="line">
            <a:avLst/>
          </a:prstGeom>
          <a:noFill/>
          <a:ln w="47625">
            <a:solidFill>
              <a:srgbClr val="C09E30"/>
            </a:solidFill>
            <a:prstDash val="solid"/>
          </a:ln>
        </p:spPr>
      </p:sp>
      <p:sp>
        <p:nvSpPr>
          <p:cNvPr id="11" name="Text 9"/>
          <p:cNvSpPr/>
          <p:nvPr/>
        </p:nvSpPr>
        <p:spPr>
          <a:xfrm>
            <a:off x="733425" y="1009352"/>
            <a:ext cx="8410575" cy="185166"/>
          </a:xfrm>
          <a:prstGeom prst="rect">
            <a:avLst/>
          </a:prstGeom>
          <a:noFill/>
          <a:ln/>
        </p:spPr>
        <p:txBody>
          <a:bodyPr wrap="none" lIns="0" tIns="0" rIns="0" bIns="0" rtlCol="0" anchor="t"/>
          <a:lstStyle/>
          <a:p>
            <a:pPr algn="l" indent="0" marL="0">
              <a:spcAft>
                <a:spcPts val="500"/>
              </a:spcAft>
              <a:buNone/>
            </a:pPr>
            <a:r>
              <a:rPr lang="en-US" sz="1200" b="1" dirty="0">
                <a:solidFill>
                  <a:srgbClr val="C09E30"/>
                </a:solidFill>
                <a:latin typeface="Corbel" pitchFamily="34" charset="0"/>
                <a:ea typeface="Corbel" pitchFamily="34" charset="-122"/>
                <a:cs typeface="Corbel" pitchFamily="34" charset="-120"/>
              </a:rPr>
              <a:t>WHEN YOUR TEAM MISSES TARGET</a:t>
            </a:r>
            <a:endParaRPr lang="en-US" sz="1200" dirty="0"/>
          </a:p>
        </p:txBody>
      </p:sp>
      <p:sp>
        <p:nvSpPr>
          <p:cNvPr id="12" name="Text 10"/>
          <p:cNvSpPr/>
          <p:nvPr/>
        </p:nvSpPr>
        <p:spPr>
          <a:xfrm>
            <a:off x="733425" y="1244203"/>
            <a:ext cx="8101013" cy="715589"/>
          </a:xfrm>
          <a:prstGeom prst="rect">
            <a:avLst/>
          </a:prstGeom>
          <a:noFill/>
          <a:ln/>
        </p:spPr>
        <p:txBody>
          <a:bodyPr wrap="square" lIns="0" tIns="0" rIns="0" bIns="0" rtlCol="0" anchor="t"/>
          <a:lstStyle/>
          <a:p>
            <a:pPr algn="l" indent="0" marL="0">
              <a:lnSpc>
                <a:spcPts val="1740"/>
              </a:lnSpc>
              <a:buNone/>
            </a:pPr>
            <a:r>
              <a:rPr lang="en-US" sz="1200" i="1" dirty="0">
                <a:solidFill>
                  <a:srgbClr val="3C2415"/>
                </a:solidFill>
                <a:latin typeface="Palatino Linotype" pitchFamily="34" charset="0"/>
                <a:ea typeface="Palatino Linotype" pitchFamily="34" charset="-122"/>
                <a:cs typeface="Palatino Linotype" pitchFamily="34" charset="-120"/>
              </a:rPr>
              <a:t>"We missed the mark this week — and that starts with me. I didn't set us up with enough leads, or I didn't coach you hard enough on conversions. So here's what I'm changing: [specific action]. Now I need each of you to name one thing you'll own differently next week."</a:t>
            </a:r>
            <a:endParaRPr lang="en-US" sz="1200" dirty="0"/>
          </a:p>
        </p:txBody>
      </p:sp>
      <p:sp>
        <p:nvSpPr>
          <p:cNvPr id="13" name="Text 11"/>
          <p:cNvSpPr/>
          <p:nvPr/>
        </p:nvSpPr>
        <p:spPr>
          <a:xfrm>
            <a:off x="457200" y="2195661"/>
            <a:ext cx="8229600" cy="1000423"/>
          </a:xfrm>
          <a:prstGeom prst="roundRect">
            <a:avLst>
              <a:gd name="adj" fmla="val 5078"/>
            </a:avLst>
          </a:prstGeom>
          <a:solidFill>
            <a:srgbClr val="FFFFFF"/>
          </a:solidFill>
          <a:ln/>
        </p:spPr>
        <p:txBody>
          <a:bodyPr wrap="square" rtlCol="0" anchor="ctr"/>
          <a:lstStyle/>
          <a:p>
            <a:pPr indent="0" marL="0">
              <a:buNone/>
            </a:pPr>
            <a:endParaRPr lang="en-US" dirty="0"/>
          </a:p>
        </p:txBody>
      </p:sp>
      <p:sp>
        <p:nvSpPr>
          <p:cNvPr id="14" name="Shape 12"/>
          <p:cNvSpPr/>
          <p:nvPr/>
        </p:nvSpPr>
        <p:spPr>
          <a:xfrm>
            <a:off x="457200" y="2200424"/>
            <a:ext cx="8229600" cy="0"/>
          </a:xfrm>
          <a:prstGeom prst="line">
            <a:avLst/>
          </a:prstGeom>
          <a:noFill/>
          <a:ln w="9525">
            <a:solidFill>
              <a:srgbClr val="CEBFB5"/>
            </a:solidFill>
            <a:prstDash val="solid"/>
          </a:ln>
        </p:spPr>
      </p:sp>
      <p:sp>
        <p:nvSpPr>
          <p:cNvPr id="15" name="Shape 13"/>
          <p:cNvSpPr/>
          <p:nvPr/>
        </p:nvSpPr>
        <p:spPr>
          <a:xfrm>
            <a:off x="8682038" y="2195661"/>
            <a:ext cx="0" cy="1000423"/>
          </a:xfrm>
          <a:prstGeom prst="line">
            <a:avLst/>
          </a:prstGeom>
          <a:noFill/>
          <a:ln w="9525">
            <a:solidFill>
              <a:srgbClr val="CEBFB5"/>
            </a:solidFill>
            <a:prstDash val="solid"/>
          </a:ln>
        </p:spPr>
      </p:sp>
      <p:sp>
        <p:nvSpPr>
          <p:cNvPr id="16" name="Shape 14"/>
          <p:cNvSpPr/>
          <p:nvPr/>
        </p:nvSpPr>
        <p:spPr>
          <a:xfrm>
            <a:off x="457200" y="3191321"/>
            <a:ext cx="8229600" cy="0"/>
          </a:xfrm>
          <a:prstGeom prst="line">
            <a:avLst/>
          </a:prstGeom>
          <a:noFill/>
          <a:ln w="9525">
            <a:solidFill>
              <a:srgbClr val="CEBFB5"/>
            </a:solidFill>
            <a:prstDash val="solid"/>
          </a:ln>
        </p:spPr>
      </p:sp>
      <p:sp>
        <p:nvSpPr>
          <p:cNvPr id="17" name="Shape 15"/>
          <p:cNvSpPr/>
          <p:nvPr/>
        </p:nvSpPr>
        <p:spPr>
          <a:xfrm>
            <a:off x="481012" y="2195661"/>
            <a:ext cx="0" cy="1000423"/>
          </a:xfrm>
          <a:prstGeom prst="line">
            <a:avLst/>
          </a:prstGeom>
          <a:noFill/>
          <a:ln w="47625">
            <a:solidFill>
              <a:srgbClr val="D4766A"/>
            </a:solidFill>
            <a:prstDash val="solid"/>
          </a:ln>
        </p:spPr>
      </p:sp>
      <p:sp>
        <p:nvSpPr>
          <p:cNvPr id="18" name="Text 16"/>
          <p:cNvSpPr/>
          <p:nvPr/>
        </p:nvSpPr>
        <p:spPr>
          <a:xfrm>
            <a:off x="733425" y="2357586"/>
            <a:ext cx="8410575" cy="185166"/>
          </a:xfrm>
          <a:prstGeom prst="rect">
            <a:avLst/>
          </a:prstGeom>
          <a:noFill/>
          <a:ln/>
        </p:spPr>
        <p:txBody>
          <a:bodyPr wrap="none" lIns="0" tIns="0" rIns="0" bIns="0" rtlCol="0" anchor="t"/>
          <a:lstStyle/>
          <a:p>
            <a:pPr algn="l" indent="0" marL="0">
              <a:spcAft>
                <a:spcPts val="500"/>
              </a:spcAft>
              <a:buNone/>
            </a:pPr>
            <a:r>
              <a:rPr lang="en-US" sz="1200" b="1" dirty="0">
                <a:solidFill>
                  <a:srgbClr val="D4766A"/>
                </a:solidFill>
                <a:latin typeface="Corbel" pitchFamily="34" charset="0"/>
                <a:ea typeface="Corbel" pitchFamily="34" charset="-122"/>
                <a:cs typeface="Corbel" pitchFamily="34" charset="-120"/>
              </a:rPr>
              <a:t>WHEN YOU NEED TO DELIVER TOUGH NEWS</a:t>
            </a:r>
            <a:endParaRPr lang="en-US" sz="1200" dirty="0"/>
          </a:p>
        </p:txBody>
      </p:sp>
      <p:sp>
        <p:nvSpPr>
          <p:cNvPr id="19" name="Text 17"/>
          <p:cNvSpPr/>
          <p:nvPr/>
        </p:nvSpPr>
        <p:spPr>
          <a:xfrm>
            <a:off x="733425" y="2592437"/>
            <a:ext cx="8101013" cy="477060"/>
          </a:xfrm>
          <a:prstGeom prst="rect">
            <a:avLst/>
          </a:prstGeom>
          <a:noFill/>
          <a:ln/>
        </p:spPr>
        <p:txBody>
          <a:bodyPr wrap="square" lIns="0" tIns="0" rIns="0" bIns="0" rtlCol="0" anchor="t"/>
          <a:lstStyle/>
          <a:p>
            <a:pPr algn="l" indent="0" marL="0">
              <a:lnSpc>
                <a:spcPts val="1740"/>
              </a:lnSpc>
              <a:buNone/>
            </a:pPr>
            <a:r>
              <a:rPr lang="en-US" sz="1200" i="1" dirty="0">
                <a:solidFill>
                  <a:srgbClr val="3C2415"/>
                </a:solidFill>
                <a:latin typeface="Palatino Linotype" pitchFamily="34" charset="0"/>
                <a:ea typeface="Palatino Linotype" pitchFamily="34" charset="-122"/>
                <a:cs typeface="Palatino Linotype" pitchFamily="34" charset="-120"/>
              </a:rPr>
              <a:t>"I have some tough news to share, and I want to be direct because you deserve that. [Deliver news.] I know this isn't easy to hear. I want you to know I'm taking responsibility for how we got here, and here's exactly what I'm doing about it: [action]."</a:t>
            </a:r>
            <a:endParaRPr lang="en-US" sz="1200" dirty="0"/>
          </a:p>
        </p:txBody>
      </p:sp>
      <p:sp>
        <p:nvSpPr>
          <p:cNvPr id="20" name="Text 18"/>
          <p:cNvSpPr/>
          <p:nvPr/>
        </p:nvSpPr>
        <p:spPr>
          <a:xfrm>
            <a:off x="457200" y="3323034"/>
            <a:ext cx="8229600" cy="916484"/>
          </a:xfrm>
          <a:prstGeom prst="roundRect">
            <a:avLst>
              <a:gd name="adj" fmla="val 5543"/>
            </a:avLst>
          </a:prstGeom>
          <a:solidFill>
            <a:srgbClr val="E9E2DC"/>
          </a:solidFill>
          <a:ln/>
        </p:spPr>
        <p:txBody>
          <a:bodyPr wrap="square" rtlCol="0" anchor="ctr"/>
          <a:lstStyle/>
          <a:p>
            <a:pPr indent="0" marL="0">
              <a:buNone/>
            </a:pPr>
            <a:endParaRPr lang="en-US" dirty="0"/>
          </a:p>
        </p:txBody>
      </p:sp>
      <p:sp>
        <p:nvSpPr>
          <p:cNvPr id="21" name="Shape 19"/>
          <p:cNvSpPr/>
          <p:nvPr/>
        </p:nvSpPr>
        <p:spPr>
          <a:xfrm>
            <a:off x="481012" y="3323034"/>
            <a:ext cx="0" cy="916484"/>
          </a:xfrm>
          <a:prstGeom prst="line">
            <a:avLst/>
          </a:prstGeom>
          <a:noFill/>
          <a:ln w="47625">
            <a:solidFill>
              <a:srgbClr val="6B5443"/>
            </a:solidFill>
            <a:prstDash val="solid"/>
          </a:ln>
        </p:spPr>
      </p:sp>
      <p:sp>
        <p:nvSpPr>
          <p:cNvPr id="22" name="Text 20"/>
          <p:cNvSpPr/>
          <p:nvPr/>
        </p:nvSpPr>
        <p:spPr>
          <a:xfrm>
            <a:off x="733425" y="3449985"/>
            <a:ext cx="8111014" cy="715589"/>
          </a:xfrm>
          <a:prstGeom prst="rect">
            <a:avLst/>
          </a:prstGeom>
          <a:noFill/>
          <a:ln/>
        </p:spPr>
        <p:txBody>
          <a:bodyPr wrap="square" lIns="0" tIns="0" rIns="0" bIns="0" rtlCol="0" anchor="t"/>
          <a:lstStyle/>
          <a:p>
            <a:pPr algn="l" indent="0" marL="0">
              <a:lnSpc>
                <a:spcPts val="1740"/>
              </a:lnSpc>
              <a:buNone/>
            </a:pPr>
            <a:r>
              <a:rPr lang="en-US" sz="1200" b="1" dirty="0">
                <a:solidFill>
                  <a:srgbClr val="6B5443"/>
                </a:solidFill>
                <a:latin typeface="Corbel" pitchFamily="34" charset="0"/>
                <a:ea typeface="Corbel" pitchFamily="34" charset="-122"/>
                <a:cs typeface="Corbel" pitchFamily="34" charset="-120"/>
              </a:rPr>
              <a:t>FAITH IN LEADERSHIP:</a:t>
            </a:r>
            <a:pPr algn="l" indent="0" marL="0">
              <a:lnSpc>
                <a:spcPts val="1740"/>
              </a:lnSpc>
              <a:buNone/>
            </a:pPr>
            <a:r>
              <a:rPr lang="en-US" sz="1200" dirty="0">
                <a:solidFill>
                  <a:srgbClr val="3C2415"/>
                </a:solidFill>
                <a:latin typeface="Corbel" pitchFamily="34" charset="0"/>
                <a:ea typeface="Corbel" pitchFamily="34" charset="-122"/>
                <a:cs typeface="Corbel" pitchFamily="34" charset="-120"/>
              </a:rPr>
              <a:t> Leading with accountability doesn't mean carrying the burden alone. It means modeling the posture you want your team to adopt. When you say "that's on me," you give your team permission to own their part too — without shame.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07827"/>
          </a:xfrm>
          <a:prstGeom prst="rect">
            <a:avLst/>
          </a:prstGeom>
          <a:solidFill>
            <a:srgbClr val="2D1B10"/>
          </a:solidFill>
          <a:ln/>
        </p:spPr>
        <p:txBody>
          <a:bodyPr wrap="square" rtlCol="0" anchor="ctr"/>
          <a:lstStyle/>
          <a:p>
            <a:pPr indent="0" marL="0">
              <a:buNone/>
            </a:pPr>
            <a:endParaRPr lang="en-US" dirty="0"/>
          </a:p>
        </p:txBody>
      </p:sp>
      <p:sp>
        <p:nvSpPr>
          <p:cNvPr id="3" name="Text 1"/>
          <p:cNvSpPr/>
          <p:nvPr/>
        </p:nvSpPr>
        <p:spPr>
          <a:xfrm>
            <a:off x="457200" y="239613"/>
            <a:ext cx="969020" cy="228600"/>
          </a:xfrm>
          <a:prstGeom prst="roundRect">
            <a:avLst>
              <a:gd name="adj" fmla="val 11111"/>
            </a:avLst>
          </a:prstGeom>
          <a:solidFill>
            <a:srgbClr val="C09E30"/>
          </a:solidFill>
          <a:ln/>
        </p:spPr>
        <p:txBody>
          <a:bodyPr wrap="square" rtlCol="0" anchor="ctr"/>
          <a:lstStyle/>
          <a:p>
            <a:pPr indent="0" marL="0">
              <a:buNone/>
            </a:pPr>
            <a:endParaRPr lang="en-US" dirty="0"/>
          </a:p>
        </p:txBody>
      </p:sp>
      <p:sp>
        <p:nvSpPr>
          <p:cNvPr id="4" name="Text 2"/>
          <p:cNvSpPr/>
          <p:nvPr/>
        </p:nvSpPr>
        <p:spPr>
          <a:xfrm>
            <a:off x="609600" y="277713"/>
            <a:ext cx="929908" cy="164592"/>
          </a:xfrm>
          <a:prstGeom prst="rect">
            <a:avLst/>
          </a:prstGeom>
          <a:noFill/>
          <a:ln/>
        </p:spPr>
        <p:txBody>
          <a:bodyPr wrap="none" lIns="0" tIns="0" rIns="0" bIns="0" rtlCol="0" anchor="t"/>
          <a:lstStyle/>
          <a:p>
            <a:pPr algn="l" indent="0" marL="0">
              <a:buNone/>
            </a:pPr>
            <a:r>
              <a:rPr lang="en-US" sz="1100" b="1" spc="200" kern="0" dirty="0">
                <a:solidFill>
                  <a:srgbClr val="1E120A"/>
                </a:solidFill>
                <a:latin typeface="Corbel" pitchFamily="34" charset="0"/>
                <a:ea typeface="Corbel" pitchFamily="34" charset="-122"/>
                <a:cs typeface="Corbel" pitchFamily="34" charset="-120"/>
              </a:rPr>
              <a:t>RITUAL</a:t>
            </a:r>
            <a:endParaRPr lang="en-US" sz="1100" dirty="0"/>
          </a:p>
        </p:txBody>
      </p:sp>
      <p:sp>
        <p:nvSpPr>
          <p:cNvPr id="5" name="Text 3"/>
          <p:cNvSpPr/>
          <p:nvPr/>
        </p:nvSpPr>
        <p:spPr>
          <a:xfrm>
            <a:off x="1603921" y="177701"/>
            <a:ext cx="3263325" cy="380619"/>
          </a:xfrm>
          <a:prstGeom prst="rect">
            <a:avLst/>
          </a:prstGeom>
          <a:noFill/>
          <a:ln/>
        </p:spPr>
        <p:txBody>
          <a:bodyPr wrap="none" lIns="0" tIns="0" rIns="0" bIns="0" rtlCol="0" anchor="t"/>
          <a:lstStyle/>
          <a:p>
            <a:pPr algn="l" indent="0" marL="0">
              <a:buNone/>
            </a:pPr>
            <a:r>
              <a:rPr lang="en-US" sz="2400" b="1" dirty="0">
                <a:solidFill>
                  <a:srgbClr val="FFFFFF"/>
                </a:solidFill>
                <a:latin typeface="Palatino Linotype" pitchFamily="34" charset="0"/>
                <a:ea typeface="Palatino Linotype" pitchFamily="34" charset="-122"/>
                <a:cs typeface="Palatino Linotype" pitchFamily="34" charset="-120"/>
              </a:rPr>
              <a:t>The Weekly Reset</a:t>
            </a:r>
            <a:endParaRPr lang="en-US" sz="2400" dirty="0"/>
          </a:p>
        </p:txBody>
      </p:sp>
      <p:sp>
        <p:nvSpPr>
          <p:cNvPr id="6" name="Text 4"/>
          <p:cNvSpPr/>
          <p:nvPr/>
        </p:nvSpPr>
        <p:spPr>
          <a:xfrm>
            <a:off x="457200" y="936427"/>
            <a:ext cx="8636000" cy="216027"/>
          </a:xfrm>
          <a:prstGeom prst="rect">
            <a:avLst/>
          </a:prstGeom>
          <a:noFill/>
          <a:ln/>
        </p:spPr>
        <p:txBody>
          <a:bodyPr wrap="square" lIns="0" tIns="0" rIns="0" bIns="0" rtlCol="0" anchor="t"/>
          <a:lstStyle/>
          <a:p>
            <a:pPr algn="l" indent="0" marL="0">
              <a:spcAft>
                <a:spcPts val="1400"/>
              </a:spcAft>
              <a:buNone/>
            </a:pPr>
            <a:r>
              <a:rPr lang="en-US" sz="1300" i="1" dirty="0">
                <a:solidFill>
                  <a:srgbClr val="6B5443"/>
                </a:solidFill>
                <a:latin typeface="Corbel" pitchFamily="34" charset="0"/>
                <a:ea typeface="Corbel" pitchFamily="34" charset="-122"/>
                <a:cs typeface="Corbel" pitchFamily="34" charset="-120"/>
              </a:rPr>
              <a:t>15 minutes every Friday at 4:30 PM — no excuses, no skipping.</a:t>
            </a:r>
            <a:endParaRPr lang="en-US" sz="1300" dirty="0"/>
          </a:p>
        </p:txBody>
      </p:sp>
      <p:sp>
        <p:nvSpPr>
          <p:cNvPr id="7" name="Text 5"/>
          <p:cNvSpPr/>
          <p:nvPr/>
        </p:nvSpPr>
        <p:spPr>
          <a:xfrm>
            <a:off x="457200" y="1314152"/>
            <a:ext cx="4038600" cy="1449139"/>
          </a:xfrm>
          <a:prstGeom prst="roundRect">
            <a:avLst>
              <a:gd name="adj" fmla="val 3506"/>
            </a:avLst>
          </a:prstGeom>
          <a:solidFill>
            <a:srgbClr val="F5F2F0"/>
          </a:solidFill>
          <a:ln/>
        </p:spPr>
        <p:txBody>
          <a:bodyPr wrap="square" rtlCol="0" anchor="ctr"/>
          <a:lstStyle/>
          <a:p>
            <a:pPr indent="0" marL="0">
              <a:buNone/>
            </a:pPr>
            <a:endParaRPr lang="en-US" dirty="0"/>
          </a:p>
        </p:txBody>
      </p:sp>
      <p:sp>
        <p:nvSpPr>
          <p:cNvPr id="8" name="Shape 6"/>
          <p:cNvSpPr/>
          <p:nvPr/>
        </p:nvSpPr>
        <p:spPr>
          <a:xfrm>
            <a:off x="457200" y="1333202"/>
            <a:ext cx="4038600" cy="0"/>
          </a:xfrm>
          <a:prstGeom prst="line">
            <a:avLst/>
          </a:prstGeom>
          <a:noFill/>
          <a:ln w="38100">
            <a:solidFill>
              <a:srgbClr val="C09E30"/>
            </a:solidFill>
            <a:prstDash val="solid"/>
          </a:ln>
        </p:spPr>
      </p:sp>
      <p:sp>
        <p:nvSpPr>
          <p:cNvPr id="9" name="Shape 7"/>
          <p:cNvSpPr/>
          <p:nvPr/>
        </p:nvSpPr>
        <p:spPr>
          <a:xfrm>
            <a:off x="4491038" y="1314152"/>
            <a:ext cx="0" cy="1449139"/>
          </a:xfrm>
          <a:prstGeom prst="line">
            <a:avLst/>
          </a:prstGeom>
          <a:noFill/>
          <a:ln w="9525">
            <a:solidFill>
              <a:srgbClr val="CEBFB5"/>
            </a:solidFill>
            <a:prstDash val="solid"/>
          </a:ln>
        </p:spPr>
      </p:sp>
      <p:sp>
        <p:nvSpPr>
          <p:cNvPr id="10" name="Shape 8"/>
          <p:cNvSpPr/>
          <p:nvPr/>
        </p:nvSpPr>
        <p:spPr>
          <a:xfrm>
            <a:off x="457200" y="2758529"/>
            <a:ext cx="4038600" cy="0"/>
          </a:xfrm>
          <a:prstGeom prst="line">
            <a:avLst/>
          </a:prstGeom>
          <a:noFill/>
          <a:ln w="9525">
            <a:solidFill>
              <a:srgbClr val="CEBFB5"/>
            </a:solidFill>
            <a:prstDash val="solid"/>
          </a:ln>
        </p:spPr>
      </p:sp>
      <p:sp>
        <p:nvSpPr>
          <p:cNvPr id="11" name="Shape 9"/>
          <p:cNvSpPr/>
          <p:nvPr/>
        </p:nvSpPr>
        <p:spPr>
          <a:xfrm>
            <a:off x="461963" y="1314152"/>
            <a:ext cx="0" cy="1449139"/>
          </a:xfrm>
          <a:prstGeom prst="line">
            <a:avLst/>
          </a:prstGeom>
          <a:noFill/>
          <a:ln w="9525">
            <a:solidFill>
              <a:srgbClr val="CEBFB5"/>
            </a:solidFill>
            <a:prstDash val="solid"/>
          </a:ln>
        </p:spPr>
      </p:sp>
      <p:sp>
        <p:nvSpPr>
          <p:cNvPr id="12" name="Text 10"/>
          <p:cNvSpPr/>
          <p:nvPr/>
        </p:nvSpPr>
        <p:spPr>
          <a:xfrm>
            <a:off x="669875" y="1529953"/>
            <a:ext cx="330101" cy="330101"/>
          </a:xfrm>
          <a:prstGeom prst="roundRect">
            <a:avLst>
              <a:gd name="adj" fmla="val 277006"/>
            </a:avLst>
          </a:prstGeom>
          <a:solidFill>
            <a:srgbClr val="C09E30"/>
          </a:solidFill>
          <a:ln/>
        </p:spPr>
        <p:txBody>
          <a:bodyPr wrap="square" rtlCol="0" anchor="ctr"/>
          <a:lstStyle/>
          <a:p>
            <a:pPr indent="0" marL="0">
              <a:buNone/>
            </a:pPr>
            <a:endParaRPr lang="en-US" dirty="0"/>
          </a:p>
        </p:txBody>
      </p:sp>
      <p:sp>
        <p:nvSpPr>
          <p:cNvPr id="13" name="Text 11"/>
          <p:cNvSpPr/>
          <p:nvPr/>
        </p:nvSpPr>
        <p:spPr>
          <a:xfrm>
            <a:off x="771491" y="1594991"/>
            <a:ext cx="126721" cy="216027"/>
          </a:xfrm>
          <a:prstGeom prst="rect">
            <a:avLst/>
          </a:prstGeom>
          <a:noFill/>
          <a:ln/>
        </p:spPr>
        <p:txBody>
          <a:bodyPr wrap="square" lIns="0" tIns="0" rIns="0" bIns="0" rtlCol="0" anchor="t"/>
          <a:lstStyle/>
          <a:p>
            <a:pPr algn="ctr" indent="0" marL="0">
              <a:buNone/>
            </a:pPr>
            <a:r>
              <a:rPr lang="en-US" sz="1300" b="1" dirty="0">
                <a:solidFill>
                  <a:srgbClr val="1E120A"/>
                </a:solidFill>
                <a:latin typeface="Corbel" pitchFamily="34" charset="0"/>
                <a:ea typeface="Corbel" pitchFamily="34" charset="-122"/>
                <a:cs typeface="Corbel" pitchFamily="34" charset="-120"/>
              </a:rPr>
              <a:t>1</a:t>
            </a:r>
            <a:endParaRPr lang="en-US" sz="1300" dirty="0"/>
          </a:p>
        </p:txBody>
      </p:sp>
      <p:sp>
        <p:nvSpPr>
          <p:cNvPr id="14" name="Text 12"/>
          <p:cNvSpPr/>
          <p:nvPr/>
        </p:nvSpPr>
        <p:spPr>
          <a:xfrm>
            <a:off x="1101477" y="1585466"/>
            <a:ext cx="1052215" cy="236601"/>
          </a:xfrm>
          <a:prstGeom prst="rect">
            <a:avLst/>
          </a:prstGeom>
          <a:noFill/>
          <a:ln/>
        </p:spPr>
        <p:txBody>
          <a:bodyPr wrap="none" lIns="0" tIns="0" rIns="0" bIns="0" rtlCol="0" anchor="t"/>
          <a:lstStyle/>
          <a:p>
            <a:pPr algn="l" indent="0" marL="0">
              <a:buNone/>
            </a:pPr>
            <a:r>
              <a:rPr lang="en-US" sz="1500" b="1" dirty="0">
                <a:solidFill>
                  <a:srgbClr val="3C2415"/>
                </a:solidFill>
                <a:latin typeface="Corbel" pitchFamily="34" charset="0"/>
                <a:ea typeface="Corbel" pitchFamily="34" charset="-122"/>
                <a:cs typeface="Corbel" pitchFamily="34" charset="-120"/>
              </a:rPr>
              <a:t>REVIEW</a:t>
            </a:r>
            <a:endParaRPr lang="en-US" sz="1500" dirty="0"/>
          </a:p>
        </p:txBody>
      </p:sp>
      <p:sp>
        <p:nvSpPr>
          <p:cNvPr id="15" name="Text 13"/>
          <p:cNvSpPr/>
          <p:nvPr/>
        </p:nvSpPr>
        <p:spPr>
          <a:xfrm>
            <a:off x="669875" y="1936254"/>
            <a:ext cx="3793912" cy="690997"/>
          </a:xfrm>
          <a:prstGeom prst="rect">
            <a:avLst/>
          </a:prstGeom>
          <a:noFill/>
          <a:ln/>
        </p:spPr>
        <p:txBody>
          <a:bodyPr wrap="square" lIns="0" tIns="0" rIns="0" bIns="0" rtlCol="0" anchor="t"/>
          <a:lstStyle/>
          <a:p>
            <a:pPr algn="l" indent="0" marL="0">
              <a:lnSpc>
                <a:spcPts val="1680"/>
              </a:lnSpc>
              <a:buNone/>
            </a:pPr>
            <a:r>
              <a:rPr lang="en-US" sz="1200" dirty="0">
                <a:solidFill>
                  <a:srgbClr val="6B5443"/>
                </a:solidFill>
                <a:latin typeface="Corbel" pitchFamily="34" charset="0"/>
                <a:ea typeface="Corbel" pitchFamily="34" charset="-122"/>
                <a:cs typeface="Corbel" pitchFamily="34" charset="-120"/>
              </a:rPr>
              <a:t>What were my commitments this week? Did I honor them? Write down every promise you made — kept or broken.</a:t>
            </a:r>
            <a:endParaRPr lang="en-US" sz="1200" dirty="0"/>
          </a:p>
        </p:txBody>
      </p:sp>
      <p:sp>
        <p:nvSpPr>
          <p:cNvPr id="16" name="Text 14"/>
          <p:cNvSpPr/>
          <p:nvPr/>
        </p:nvSpPr>
        <p:spPr>
          <a:xfrm>
            <a:off x="4648200" y="1314152"/>
            <a:ext cx="4038600" cy="1449139"/>
          </a:xfrm>
          <a:prstGeom prst="roundRect">
            <a:avLst>
              <a:gd name="adj" fmla="val 3506"/>
            </a:avLst>
          </a:prstGeom>
          <a:solidFill>
            <a:srgbClr val="F5F2F0"/>
          </a:solidFill>
          <a:ln/>
        </p:spPr>
        <p:txBody>
          <a:bodyPr wrap="square" rtlCol="0" anchor="ctr"/>
          <a:lstStyle/>
          <a:p>
            <a:pPr indent="0" marL="0">
              <a:buNone/>
            </a:pPr>
            <a:endParaRPr lang="en-US" dirty="0"/>
          </a:p>
        </p:txBody>
      </p:sp>
      <p:sp>
        <p:nvSpPr>
          <p:cNvPr id="17" name="Shape 15"/>
          <p:cNvSpPr/>
          <p:nvPr/>
        </p:nvSpPr>
        <p:spPr>
          <a:xfrm>
            <a:off x="4648200" y="1333202"/>
            <a:ext cx="4038600" cy="0"/>
          </a:xfrm>
          <a:prstGeom prst="line">
            <a:avLst/>
          </a:prstGeom>
          <a:noFill/>
          <a:ln w="38100">
            <a:solidFill>
              <a:srgbClr val="D4766A"/>
            </a:solidFill>
            <a:prstDash val="solid"/>
          </a:ln>
        </p:spPr>
      </p:sp>
      <p:sp>
        <p:nvSpPr>
          <p:cNvPr id="18" name="Shape 16"/>
          <p:cNvSpPr/>
          <p:nvPr/>
        </p:nvSpPr>
        <p:spPr>
          <a:xfrm>
            <a:off x="8682038" y="1314152"/>
            <a:ext cx="0" cy="1449139"/>
          </a:xfrm>
          <a:prstGeom prst="line">
            <a:avLst/>
          </a:prstGeom>
          <a:noFill/>
          <a:ln w="9525">
            <a:solidFill>
              <a:srgbClr val="CEBFB5"/>
            </a:solidFill>
            <a:prstDash val="solid"/>
          </a:ln>
        </p:spPr>
      </p:sp>
      <p:sp>
        <p:nvSpPr>
          <p:cNvPr id="19" name="Shape 17"/>
          <p:cNvSpPr/>
          <p:nvPr/>
        </p:nvSpPr>
        <p:spPr>
          <a:xfrm>
            <a:off x="4648200" y="2758529"/>
            <a:ext cx="4038600" cy="0"/>
          </a:xfrm>
          <a:prstGeom prst="line">
            <a:avLst/>
          </a:prstGeom>
          <a:noFill/>
          <a:ln w="9525">
            <a:solidFill>
              <a:srgbClr val="CEBFB5"/>
            </a:solidFill>
            <a:prstDash val="solid"/>
          </a:ln>
        </p:spPr>
      </p:sp>
      <p:sp>
        <p:nvSpPr>
          <p:cNvPr id="20" name="Shape 18"/>
          <p:cNvSpPr/>
          <p:nvPr/>
        </p:nvSpPr>
        <p:spPr>
          <a:xfrm>
            <a:off x="4652962" y="1314152"/>
            <a:ext cx="0" cy="1449139"/>
          </a:xfrm>
          <a:prstGeom prst="line">
            <a:avLst/>
          </a:prstGeom>
          <a:noFill/>
          <a:ln w="9525">
            <a:solidFill>
              <a:srgbClr val="CEBFB5"/>
            </a:solidFill>
            <a:prstDash val="solid"/>
          </a:ln>
        </p:spPr>
      </p:sp>
      <p:sp>
        <p:nvSpPr>
          <p:cNvPr id="21" name="Text 19"/>
          <p:cNvSpPr/>
          <p:nvPr/>
        </p:nvSpPr>
        <p:spPr>
          <a:xfrm>
            <a:off x="4860875" y="1529953"/>
            <a:ext cx="330101" cy="330101"/>
          </a:xfrm>
          <a:prstGeom prst="roundRect">
            <a:avLst>
              <a:gd name="adj" fmla="val 277006"/>
            </a:avLst>
          </a:prstGeom>
          <a:solidFill>
            <a:srgbClr val="D4766A"/>
          </a:solidFill>
          <a:ln/>
        </p:spPr>
        <p:txBody>
          <a:bodyPr wrap="square" rtlCol="0" anchor="ctr"/>
          <a:lstStyle/>
          <a:p>
            <a:pPr indent="0" marL="0">
              <a:buNone/>
            </a:pPr>
            <a:endParaRPr lang="en-US" dirty="0"/>
          </a:p>
        </p:txBody>
      </p:sp>
      <p:sp>
        <p:nvSpPr>
          <p:cNvPr id="22" name="Text 20"/>
          <p:cNvSpPr/>
          <p:nvPr/>
        </p:nvSpPr>
        <p:spPr>
          <a:xfrm>
            <a:off x="4962491" y="1594991"/>
            <a:ext cx="126721" cy="216027"/>
          </a:xfrm>
          <a:prstGeom prst="rect">
            <a:avLst/>
          </a:prstGeom>
          <a:noFill/>
          <a:ln/>
        </p:spPr>
        <p:txBody>
          <a:bodyPr wrap="square" lIns="0" tIns="0" rIns="0" bIns="0" rtlCol="0" anchor="t"/>
          <a:lstStyle/>
          <a:p>
            <a:pPr algn="ctr" indent="0" marL="0">
              <a:buNone/>
            </a:pPr>
            <a:r>
              <a:rPr lang="en-US" sz="1300" b="1" dirty="0">
                <a:solidFill>
                  <a:srgbClr val="FFFFFF"/>
                </a:solidFill>
                <a:latin typeface="Corbel" pitchFamily="34" charset="0"/>
                <a:ea typeface="Corbel" pitchFamily="34" charset="-122"/>
                <a:cs typeface="Corbel" pitchFamily="34" charset="-120"/>
              </a:rPr>
              <a:t>2</a:t>
            </a:r>
            <a:endParaRPr lang="en-US" sz="1300" dirty="0"/>
          </a:p>
        </p:txBody>
      </p:sp>
      <p:sp>
        <p:nvSpPr>
          <p:cNvPr id="23" name="Text 21"/>
          <p:cNvSpPr/>
          <p:nvPr/>
        </p:nvSpPr>
        <p:spPr>
          <a:xfrm>
            <a:off x="5292477" y="1585466"/>
            <a:ext cx="1229737" cy="236601"/>
          </a:xfrm>
          <a:prstGeom prst="rect">
            <a:avLst/>
          </a:prstGeom>
          <a:noFill/>
          <a:ln/>
        </p:spPr>
        <p:txBody>
          <a:bodyPr wrap="none" lIns="0" tIns="0" rIns="0" bIns="0" rtlCol="0" anchor="t"/>
          <a:lstStyle/>
          <a:p>
            <a:pPr algn="l" indent="0" marL="0">
              <a:buNone/>
            </a:pPr>
            <a:r>
              <a:rPr lang="en-US" sz="1500" b="1" dirty="0">
                <a:solidFill>
                  <a:srgbClr val="3C2415"/>
                </a:solidFill>
                <a:latin typeface="Corbel" pitchFamily="34" charset="0"/>
                <a:ea typeface="Corbel" pitchFamily="34" charset="-122"/>
                <a:cs typeface="Corbel" pitchFamily="34" charset="-120"/>
              </a:rPr>
              <a:t>REFLECT</a:t>
            </a:r>
            <a:endParaRPr lang="en-US" sz="1500" dirty="0"/>
          </a:p>
        </p:txBody>
      </p:sp>
      <p:sp>
        <p:nvSpPr>
          <p:cNvPr id="24" name="Text 22"/>
          <p:cNvSpPr/>
          <p:nvPr/>
        </p:nvSpPr>
        <p:spPr>
          <a:xfrm>
            <a:off x="4860875" y="1936254"/>
            <a:ext cx="3793912" cy="690997"/>
          </a:xfrm>
          <a:prstGeom prst="rect">
            <a:avLst/>
          </a:prstGeom>
          <a:noFill/>
          <a:ln/>
        </p:spPr>
        <p:txBody>
          <a:bodyPr wrap="square" lIns="0" tIns="0" rIns="0" bIns="0" rtlCol="0" anchor="t"/>
          <a:lstStyle/>
          <a:p>
            <a:pPr algn="l" indent="0" marL="0">
              <a:lnSpc>
                <a:spcPts val="1680"/>
              </a:lnSpc>
              <a:buNone/>
            </a:pPr>
            <a:r>
              <a:rPr lang="en-US" sz="1200" dirty="0">
                <a:solidFill>
                  <a:srgbClr val="6B5443"/>
                </a:solidFill>
                <a:latin typeface="Corbel" pitchFamily="34" charset="0"/>
                <a:ea typeface="Corbel" pitchFamily="34" charset="-122"/>
                <a:cs typeface="Corbel" pitchFamily="34" charset="-120"/>
              </a:rPr>
              <a:t>Where did I blame instead of own? Name one moment you pointed outward. Rewrite it with the ownership frame.</a:t>
            </a:r>
            <a:endParaRPr lang="en-US" sz="1200" dirty="0"/>
          </a:p>
        </p:txBody>
      </p:sp>
      <p:sp>
        <p:nvSpPr>
          <p:cNvPr id="25" name="Text 23"/>
          <p:cNvSpPr/>
          <p:nvPr/>
        </p:nvSpPr>
        <p:spPr>
          <a:xfrm>
            <a:off x="457200" y="2890242"/>
            <a:ext cx="4038600" cy="1449139"/>
          </a:xfrm>
          <a:prstGeom prst="roundRect">
            <a:avLst>
              <a:gd name="adj" fmla="val 3506"/>
            </a:avLst>
          </a:prstGeom>
          <a:solidFill>
            <a:srgbClr val="F5F2F0"/>
          </a:solidFill>
          <a:ln/>
        </p:spPr>
        <p:txBody>
          <a:bodyPr wrap="square" rtlCol="0" anchor="ctr"/>
          <a:lstStyle/>
          <a:p>
            <a:pPr indent="0" marL="0">
              <a:buNone/>
            </a:pPr>
            <a:endParaRPr lang="en-US" dirty="0"/>
          </a:p>
        </p:txBody>
      </p:sp>
      <p:sp>
        <p:nvSpPr>
          <p:cNvPr id="26" name="Shape 24"/>
          <p:cNvSpPr/>
          <p:nvPr/>
        </p:nvSpPr>
        <p:spPr>
          <a:xfrm>
            <a:off x="457200" y="2909292"/>
            <a:ext cx="4038600" cy="0"/>
          </a:xfrm>
          <a:prstGeom prst="line">
            <a:avLst/>
          </a:prstGeom>
          <a:noFill/>
          <a:ln w="38100">
            <a:solidFill>
              <a:srgbClr val="6B5443"/>
            </a:solidFill>
            <a:prstDash val="solid"/>
          </a:ln>
        </p:spPr>
      </p:sp>
      <p:sp>
        <p:nvSpPr>
          <p:cNvPr id="27" name="Shape 25"/>
          <p:cNvSpPr/>
          <p:nvPr/>
        </p:nvSpPr>
        <p:spPr>
          <a:xfrm>
            <a:off x="4491038" y="2890242"/>
            <a:ext cx="0" cy="1449139"/>
          </a:xfrm>
          <a:prstGeom prst="line">
            <a:avLst/>
          </a:prstGeom>
          <a:noFill/>
          <a:ln w="9525">
            <a:solidFill>
              <a:srgbClr val="CEBFB5"/>
            </a:solidFill>
            <a:prstDash val="solid"/>
          </a:ln>
        </p:spPr>
      </p:sp>
      <p:sp>
        <p:nvSpPr>
          <p:cNvPr id="28" name="Shape 26"/>
          <p:cNvSpPr/>
          <p:nvPr/>
        </p:nvSpPr>
        <p:spPr>
          <a:xfrm>
            <a:off x="457200" y="4334619"/>
            <a:ext cx="4038600" cy="0"/>
          </a:xfrm>
          <a:prstGeom prst="line">
            <a:avLst/>
          </a:prstGeom>
          <a:noFill/>
          <a:ln w="9525">
            <a:solidFill>
              <a:srgbClr val="CEBFB5"/>
            </a:solidFill>
            <a:prstDash val="solid"/>
          </a:ln>
        </p:spPr>
      </p:sp>
      <p:sp>
        <p:nvSpPr>
          <p:cNvPr id="29" name="Shape 27"/>
          <p:cNvSpPr/>
          <p:nvPr/>
        </p:nvSpPr>
        <p:spPr>
          <a:xfrm>
            <a:off x="461963" y="2890242"/>
            <a:ext cx="0" cy="1449139"/>
          </a:xfrm>
          <a:prstGeom prst="line">
            <a:avLst/>
          </a:prstGeom>
          <a:noFill/>
          <a:ln w="9525">
            <a:solidFill>
              <a:srgbClr val="CEBFB5"/>
            </a:solidFill>
            <a:prstDash val="solid"/>
          </a:ln>
        </p:spPr>
      </p:sp>
      <p:sp>
        <p:nvSpPr>
          <p:cNvPr id="30" name="Text 28"/>
          <p:cNvSpPr/>
          <p:nvPr/>
        </p:nvSpPr>
        <p:spPr>
          <a:xfrm>
            <a:off x="669875" y="3106043"/>
            <a:ext cx="330101" cy="330101"/>
          </a:xfrm>
          <a:prstGeom prst="roundRect">
            <a:avLst>
              <a:gd name="adj" fmla="val 277006"/>
            </a:avLst>
          </a:prstGeom>
          <a:solidFill>
            <a:srgbClr val="6B5443"/>
          </a:solidFill>
          <a:ln/>
        </p:spPr>
        <p:txBody>
          <a:bodyPr wrap="square" rtlCol="0" anchor="ctr"/>
          <a:lstStyle/>
          <a:p>
            <a:pPr indent="0" marL="0">
              <a:buNone/>
            </a:pPr>
            <a:endParaRPr lang="en-US" dirty="0"/>
          </a:p>
        </p:txBody>
      </p:sp>
      <p:sp>
        <p:nvSpPr>
          <p:cNvPr id="31" name="Text 29"/>
          <p:cNvSpPr/>
          <p:nvPr/>
        </p:nvSpPr>
        <p:spPr>
          <a:xfrm>
            <a:off x="771491" y="3171081"/>
            <a:ext cx="126721" cy="216027"/>
          </a:xfrm>
          <a:prstGeom prst="rect">
            <a:avLst/>
          </a:prstGeom>
          <a:noFill/>
          <a:ln/>
        </p:spPr>
        <p:txBody>
          <a:bodyPr wrap="square" lIns="0" tIns="0" rIns="0" bIns="0" rtlCol="0" anchor="t"/>
          <a:lstStyle/>
          <a:p>
            <a:pPr algn="ctr" indent="0" marL="0">
              <a:buNone/>
            </a:pPr>
            <a:r>
              <a:rPr lang="en-US" sz="1300" b="1" dirty="0">
                <a:solidFill>
                  <a:srgbClr val="FFFFFF"/>
                </a:solidFill>
                <a:latin typeface="Corbel" pitchFamily="34" charset="0"/>
                <a:ea typeface="Corbel" pitchFamily="34" charset="-122"/>
                <a:cs typeface="Corbel" pitchFamily="34" charset="-120"/>
              </a:rPr>
              <a:t>3</a:t>
            </a:r>
            <a:endParaRPr lang="en-US" sz="1300" dirty="0"/>
          </a:p>
        </p:txBody>
      </p:sp>
      <p:sp>
        <p:nvSpPr>
          <p:cNvPr id="32" name="Text 30"/>
          <p:cNvSpPr/>
          <p:nvPr/>
        </p:nvSpPr>
        <p:spPr>
          <a:xfrm>
            <a:off x="1101477" y="3161556"/>
            <a:ext cx="1526232" cy="236601"/>
          </a:xfrm>
          <a:prstGeom prst="rect">
            <a:avLst/>
          </a:prstGeom>
          <a:noFill/>
          <a:ln/>
        </p:spPr>
        <p:txBody>
          <a:bodyPr wrap="none" lIns="0" tIns="0" rIns="0" bIns="0" rtlCol="0" anchor="t"/>
          <a:lstStyle/>
          <a:p>
            <a:pPr algn="l" indent="0" marL="0">
              <a:buNone/>
            </a:pPr>
            <a:r>
              <a:rPr lang="en-US" sz="1500" b="1" dirty="0">
                <a:solidFill>
                  <a:srgbClr val="3C2415"/>
                </a:solidFill>
                <a:latin typeface="Corbel" pitchFamily="34" charset="0"/>
                <a:ea typeface="Corbel" pitchFamily="34" charset="-122"/>
                <a:cs typeface="Corbel" pitchFamily="34" charset="-120"/>
              </a:rPr>
              <a:t>RECHARGE</a:t>
            </a:r>
            <a:endParaRPr lang="en-US" sz="1500" dirty="0"/>
          </a:p>
        </p:txBody>
      </p:sp>
      <p:sp>
        <p:nvSpPr>
          <p:cNvPr id="33" name="Text 31"/>
          <p:cNvSpPr/>
          <p:nvPr/>
        </p:nvSpPr>
        <p:spPr>
          <a:xfrm>
            <a:off x="669875" y="3512344"/>
            <a:ext cx="3793912" cy="460665"/>
          </a:xfrm>
          <a:prstGeom prst="rect">
            <a:avLst/>
          </a:prstGeom>
          <a:noFill/>
          <a:ln/>
        </p:spPr>
        <p:txBody>
          <a:bodyPr wrap="square" lIns="0" tIns="0" rIns="0" bIns="0" rtlCol="0" anchor="t"/>
          <a:lstStyle/>
          <a:p>
            <a:pPr algn="l" indent="0" marL="0">
              <a:lnSpc>
                <a:spcPts val="1680"/>
              </a:lnSpc>
              <a:buNone/>
            </a:pPr>
            <a:r>
              <a:rPr lang="en-US" sz="1200" dirty="0">
                <a:solidFill>
                  <a:srgbClr val="6B5443"/>
                </a:solidFill>
                <a:latin typeface="Corbel" pitchFamily="34" charset="0"/>
                <a:ea typeface="Corbel" pitchFamily="34" charset="-122"/>
                <a:cs typeface="Corbel" pitchFamily="34" charset="-120"/>
              </a:rPr>
              <a:t>What fills my cup? Guard your energy. List one thing that restored your spirit this week — do more of it.</a:t>
            </a:r>
            <a:endParaRPr lang="en-US" sz="1200" dirty="0"/>
          </a:p>
        </p:txBody>
      </p:sp>
      <p:sp>
        <p:nvSpPr>
          <p:cNvPr id="34" name="Text 32"/>
          <p:cNvSpPr/>
          <p:nvPr/>
        </p:nvSpPr>
        <p:spPr>
          <a:xfrm>
            <a:off x="4648200" y="2890242"/>
            <a:ext cx="4038600" cy="1449139"/>
          </a:xfrm>
          <a:prstGeom prst="roundRect">
            <a:avLst>
              <a:gd name="adj" fmla="val 3506"/>
            </a:avLst>
          </a:prstGeom>
          <a:solidFill>
            <a:srgbClr val="F5F2F0"/>
          </a:solidFill>
          <a:ln/>
        </p:spPr>
        <p:txBody>
          <a:bodyPr wrap="square" rtlCol="0" anchor="ctr"/>
          <a:lstStyle/>
          <a:p>
            <a:pPr indent="0" marL="0">
              <a:buNone/>
            </a:pPr>
            <a:endParaRPr lang="en-US" dirty="0"/>
          </a:p>
        </p:txBody>
      </p:sp>
      <p:sp>
        <p:nvSpPr>
          <p:cNvPr id="35" name="Shape 33"/>
          <p:cNvSpPr/>
          <p:nvPr/>
        </p:nvSpPr>
        <p:spPr>
          <a:xfrm>
            <a:off x="4648200" y="2909292"/>
            <a:ext cx="4038600" cy="0"/>
          </a:xfrm>
          <a:prstGeom prst="line">
            <a:avLst/>
          </a:prstGeom>
          <a:noFill/>
          <a:ln w="38100">
            <a:solidFill>
              <a:srgbClr val="3C2415"/>
            </a:solidFill>
            <a:prstDash val="solid"/>
          </a:ln>
        </p:spPr>
      </p:sp>
      <p:sp>
        <p:nvSpPr>
          <p:cNvPr id="36" name="Shape 34"/>
          <p:cNvSpPr/>
          <p:nvPr/>
        </p:nvSpPr>
        <p:spPr>
          <a:xfrm>
            <a:off x="8682038" y="2890242"/>
            <a:ext cx="0" cy="1449139"/>
          </a:xfrm>
          <a:prstGeom prst="line">
            <a:avLst/>
          </a:prstGeom>
          <a:noFill/>
          <a:ln w="9525">
            <a:solidFill>
              <a:srgbClr val="CEBFB5"/>
            </a:solidFill>
            <a:prstDash val="solid"/>
          </a:ln>
        </p:spPr>
      </p:sp>
      <p:sp>
        <p:nvSpPr>
          <p:cNvPr id="37" name="Shape 35"/>
          <p:cNvSpPr/>
          <p:nvPr/>
        </p:nvSpPr>
        <p:spPr>
          <a:xfrm>
            <a:off x="4648200" y="4334619"/>
            <a:ext cx="4038600" cy="0"/>
          </a:xfrm>
          <a:prstGeom prst="line">
            <a:avLst/>
          </a:prstGeom>
          <a:noFill/>
          <a:ln w="9525">
            <a:solidFill>
              <a:srgbClr val="CEBFB5"/>
            </a:solidFill>
            <a:prstDash val="solid"/>
          </a:ln>
        </p:spPr>
      </p:sp>
      <p:sp>
        <p:nvSpPr>
          <p:cNvPr id="38" name="Shape 36"/>
          <p:cNvSpPr/>
          <p:nvPr/>
        </p:nvSpPr>
        <p:spPr>
          <a:xfrm>
            <a:off x="4652962" y="2890242"/>
            <a:ext cx="0" cy="1449139"/>
          </a:xfrm>
          <a:prstGeom prst="line">
            <a:avLst/>
          </a:prstGeom>
          <a:noFill/>
          <a:ln w="9525">
            <a:solidFill>
              <a:srgbClr val="CEBFB5"/>
            </a:solidFill>
            <a:prstDash val="solid"/>
          </a:ln>
        </p:spPr>
      </p:sp>
      <p:sp>
        <p:nvSpPr>
          <p:cNvPr id="39" name="Text 37"/>
          <p:cNvSpPr/>
          <p:nvPr/>
        </p:nvSpPr>
        <p:spPr>
          <a:xfrm>
            <a:off x="4860875" y="3106043"/>
            <a:ext cx="330101" cy="330101"/>
          </a:xfrm>
          <a:prstGeom prst="roundRect">
            <a:avLst>
              <a:gd name="adj" fmla="val 277006"/>
            </a:avLst>
          </a:prstGeom>
          <a:solidFill>
            <a:srgbClr val="3C2415"/>
          </a:solidFill>
          <a:ln/>
        </p:spPr>
        <p:txBody>
          <a:bodyPr wrap="square" rtlCol="0" anchor="ctr"/>
          <a:lstStyle/>
          <a:p>
            <a:pPr indent="0" marL="0">
              <a:buNone/>
            </a:pPr>
            <a:endParaRPr lang="en-US" dirty="0"/>
          </a:p>
        </p:txBody>
      </p:sp>
      <p:sp>
        <p:nvSpPr>
          <p:cNvPr id="40" name="Text 38"/>
          <p:cNvSpPr/>
          <p:nvPr/>
        </p:nvSpPr>
        <p:spPr>
          <a:xfrm>
            <a:off x="4962491" y="3171081"/>
            <a:ext cx="126721" cy="216027"/>
          </a:xfrm>
          <a:prstGeom prst="rect">
            <a:avLst/>
          </a:prstGeom>
          <a:noFill/>
          <a:ln/>
        </p:spPr>
        <p:txBody>
          <a:bodyPr wrap="square" lIns="0" tIns="0" rIns="0" bIns="0" rtlCol="0" anchor="t"/>
          <a:lstStyle/>
          <a:p>
            <a:pPr algn="ctr" indent="0" marL="0">
              <a:buNone/>
            </a:pPr>
            <a:r>
              <a:rPr lang="en-US" sz="1300" b="1" dirty="0">
                <a:solidFill>
                  <a:srgbClr val="FFFFFF"/>
                </a:solidFill>
                <a:latin typeface="Corbel" pitchFamily="34" charset="0"/>
                <a:ea typeface="Corbel" pitchFamily="34" charset="-122"/>
                <a:cs typeface="Corbel" pitchFamily="34" charset="-120"/>
              </a:rPr>
              <a:t>4</a:t>
            </a:r>
            <a:endParaRPr lang="en-US" sz="1300" dirty="0"/>
          </a:p>
        </p:txBody>
      </p:sp>
      <p:sp>
        <p:nvSpPr>
          <p:cNvPr id="41" name="Text 39"/>
          <p:cNvSpPr/>
          <p:nvPr/>
        </p:nvSpPr>
        <p:spPr>
          <a:xfrm>
            <a:off x="5292477" y="3161556"/>
            <a:ext cx="726132" cy="236601"/>
          </a:xfrm>
          <a:prstGeom prst="rect">
            <a:avLst/>
          </a:prstGeom>
          <a:noFill/>
          <a:ln/>
        </p:spPr>
        <p:txBody>
          <a:bodyPr wrap="none" lIns="0" tIns="0" rIns="0" bIns="0" rtlCol="0" anchor="t"/>
          <a:lstStyle/>
          <a:p>
            <a:pPr algn="l" indent="0" marL="0">
              <a:buNone/>
            </a:pPr>
            <a:r>
              <a:rPr lang="en-US" sz="1500" b="1" dirty="0">
                <a:solidFill>
                  <a:srgbClr val="3C2415"/>
                </a:solidFill>
                <a:latin typeface="Corbel" pitchFamily="34" charset="0"/>
                <a:ea typeface="Corbel" pitchFamily="34" charset="-122"/>
                <a:cs typeface="Corbel" pitchFamily="34" charset="-120"/>
              </a:rPr>
              <a:t>PLAN</a:t>
            </a:r>
            <a:endParaRPr lang="en-US" sz="1500" dirty="0"/>
          </a:p>
        </p:txBody>
      </p:sp>
      <p:sp>
        <p:nvSpPr>
          <p:cNvPr id="42" name="Text 40"/>
          <p:cNvSpPr/>
          <p:nvPr/>
        </p:nvSpPr>
        <p:spPr>
          <a:xfrm>
            <a:off x="4860875" y="3512344"/>
            <a:ext cx="3793912" cy="690997"/>
          </a:xfrm>
          <a:prstGeom prst="rect">
            <a:avLst/>
          </a:prstGeom>
          <a:noFill/>
          <a:ln/>
        </p:spPr>
        <p:txBody>
          <a:bodyPr wrap="square" lIns="0" tIns="0" rIns="0" bIns="0" rtlCol="0" anchor="t"/>
          <a:lstStyle/>
          <a:p>
            <a:pPr algn="l" indent="0" marL="0">
              <a:lnSpc>
                <a:spcPts val="1680"/>
              </a:lnSpc>
              <a:buNone/>
            </a:pPr>
            <a:r>
              <a:rPr lang="en-US" sz="1200" dirty="0">
                <a:solidFill>
                  <a:srgbClr val="6B5443"/>
                </a:solidFill>
                <a:latin typeface="Corbel" pitchFamily="34" charset="0"/>
                <a:ea typeface="Corbel" pitchFamily="34" charset="-122"/>
                <a:cs typeface="Corbel" pitchFamily="34" charset="-120"/>
              </a:rPr>
              <a:t>What are my top 3 commitments for next week? Write them. Share them. Own them before Monday arrives.</a:t>
            </a:r>
            <a:endParaRPr lang="en-US" sz="1200" dirty="0"/>
          </a:p>
        </p:txBody>
      </p:sp>
      <p:sp>
        <p:nvSpPr>
          <p:cNvPr id="43" name="Text 41"/>
          <p:cNvSpPr/>
          <p:nvPr/>
        </p:nvSpPr>
        <p:spPr>
          <a:xfrm>
            <a:off x="457200" y="4517082"/>
            <a:ext cx="8229600" cy="349151"/>
          </a:xfrm>
          <a:prstGeom prst="roundRect">
            <a:avLst>
              <a:gd name="adj" fmla="val 14550"/>
            </a:avLst>
          </a:prstGeom>
          <a:solidFill>
            <a:srgbClr val="E9E2DC"/>
          </a:solidFill>
          <a:ln/>
        </p:spPr>
        <p:txBody>
          <a:bodyPr wrap="square" rtlCol="0" anchor="ctr"/>
          <a:lstStyle/>
          <a:p>
            <a:pPr indent="0" marL="0">
              <a:buNone/>
            </a:pPr>
            <a:endParaRPr lang="en-US" dirty="0"/>
          </a:p>
        </p:txBody>
      </p:sp>
      <p:sp>
        <p:nvSpPr>
          <p:cNvPr id="44" name="Text 42"/>
          <p:cNvSpPr/>
          <p:nvPr/>
        </p:nvSpPr>
        <p:spPr>
          <a:xfrm>
            <a:off x="269185" y="4605933"/>
            <a:ext cx="8605629" cy="185166"/>
          </a:xfrm>
          <a:prstGeom prst="rect">
            <a:avLst/>
          </a:prstGeom>
          <a:noFill/>
          <a:ln/>
        </p:spPr>
        <p:txBody>
          <a:bodyPr wrap="square" lIns="0" tIns="0" rIns="0" bIns="0" rtlCol="0" anchor="t"/>
          <a:lstStyle/>
          <a:p>
            <a:pPr algn="ctr" indent="0" marL="0">
              <a:buNone/>
            </a:pPr>
            <a:r>
              <a:rPr lang="en-US" sz="1200" b="1" dirty="0">
                <a:solidFill>
                  <a:srgbClr val="C09E30"/>
                </a:solidFill>
                <a:latin typeface="Corbel" pitchFamily="34" charset="0"/>
                <a:ea typeface="Corbel" pitchFamily="34" charset="-122"/>
                <a:cs typeface="Corbel" pitchFamily="34" charset="-120"/>
              </a:rPr>
              <a:t>Schedule it now:</a:t>
            </a:r>
            <a:pPr algn="ctr" indent="0" marL="0">
              <a:buNone/>
            </a:pPr>
            <a:r>
              <a:rPr lang="en-US" sz="1200" dirty="0">
                <a:solidFill>
                  <a:srgbClr val="3C2415"/>
                </a:solidFill>
                <a:latin typeface="Corbel" pitchFamily="34" charset="0"/>
                <a:ea typeface="Corbel" pitchFamily="34" charset="-122"/>
                <a:cs typeface="Corbel" pitchFamily="34" charset="-120"/>
              </a:rPr>
              <a:t> Friday 4:30 PM — Review, Reflect, Recharge, Plan. 15 minutes that change everything.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z/my-project/download/ppt-slides/dark-gradient.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0" y="0"/>
            <a:ext cx="9144000" cy="5143500"/>
          </a:xfrm>
          <a:prstGeom prst="rect">
            <a:avLst/>
          </a:prstGeom>
          <a:solidFill>
            <a:srgbClr val="1E120A">
              <a:alpha val="35000"/>
            </a:srgbClr>
          </a:solidFill>
          <a:ln/>
        </p:spPr>
        <p:txBody>
          <a:bodyPr wrap="square" rtlCol="0" anchor="ctr"/>
          <a:lstStyle/>
          <a:p>
            <a:pPr indent="0" marL="0">
              <a:buNone/>
            </a:pPr>
            <a:endParaRPr lang="en-US" dirty="0"/>
          </a:p>
        </p:txBody>
      </p:sp>
      <p:sp>
        <p:nvSpPr>
          <p:cNvPr id="4" name="Text 1"/>
          <p:cNvSpPr/>
          <p:nvPr/>
        </p:nvSpPr>
        <p:spPr>
          <a:xfrm>
            <a:off x="558701" y="304800"/>
            <a:ext cx="2852589" cy="228600"/>
          </a:xfrm>
          <a:prstGeom prst="roundRect">
            <a:avLst>
              <a:gd name="adj" fmla="val 11111"/>
            </a:avLst>
          </a:prstGeom>
          <a:solidFill>
            <a:srgbClr val="C09E30"/>
          </a:solidFill>
          <a:ln/>
        </p:spPr>
        <p:txBody>
          <a:bodyPr wrap="square" rtlCol="0" anchor="ctr"/>
          <a:lstStyle/>
          <a:p>
            <a:pPr indent="0" marL="0">
              <a:buNone/>
            </a:pPr>
            <a:endParaRPr lang="en-US" dirty="0"/>
          </a:p>
        </p:txBody>
      </p:sp>
      <p:sp>
        <p:nvSpPr>
          <p:cNvPr id="5" name="Text 2"/>
          <p:cNvSpPr/>
          <p:nvPr/>
        </p:nvSpPr>
        <p:spPr>
          <a:xfrm>
            <a:off x="736402" y="342900"/>
            <a:ext cx="3321259" cy="164592"/>
          </a:xfrm>
          <a:prstGeom prst="rect">
            <a:avLst/>
          </a:prstGeom>
          <a:noFill/>
          <a:ln/>
        </p:spPr>
        <p:txBody>
          <a:bodyPr wrap="none" lIns="0" tIns="0" rIns="0" bIns="0" rtlCol="0" anchor="t"/>
          <a:lstStyle/>
          <a:p>
            <a:pPr algn="l" indent="0" marL="0">
              <a:buNone/>
            </a:pPr>
            <a:r>
              <a:rPr lang="en-US" sz="1100" b="1" spc="200" kern="0" dirty="0">
                <a:solidFill>
                  <a:srgbClr val="1E120A"/>
                </a:solidFill>
                <a:latin typeface="Corbel" pitchFamily="34" charset="0"/>
                <a:ea typeface="Corbel" pitchFamily="34" charset="-122"/>
                <a:cs typeface="Corbel" pitchFamily="34" charset="-120"/>
              </a:rPr>
              <a:t>THE AFFILIATE ADVANTAGE</a:t>
            </a:r>
            <a:endParaRPr lang="en-US" sz="1100" dirty="0"/>
          </a:p>
        </p:txBody>
      </p:sp>
      <p:sp>
        <p:nvSpPr>
          <p:cNvPr id="6" name="Text 3"/>
          <p:cNvSpPr/>
          <p:nvPr/>
        </p:nvSpPr>
        <p:spPr>
          <a:xfrm>
            <a:off x="558701" y="736550"/>
            <a:ext cx="2370386" cy="1639788"/>
          </a:xfrm>
          <a:prstGeom prst="roundRect">
            <a:avLst>
              <a:gd name="adj" fmla="val 4647"/>
            </a:avLst>
          </a:prstGeom>
          <a:solidFill>
            <a:srgbClr val="2E1B10">
              <a:alpha val="70000"/>
            </a:srgbClr>
          </a:solidFill>
          <a:ln w="9525">
            <a:solidFill>
              <a:srgbClr val="6B5443"/>
            </a:solidFill>
          </a:ln>
        </p:spPr>
        <p:txBody>
          <a:bodyPr wrap="square" rtlCol="0" anchor="ctr"/>
          <a:lstStyle/>
          <a:p>
            <a:pPr indent="0" marL="0">
              <a:buNone/>
            </a:pPr>
            <a:endParaRPr lang="en-US" dirty="0"/>
          </a:p>
        </p:txBody>
      </p:sp>
      <p:sp>
        <p:nvSpPr>
          <p:cNvPr id="7" name="Text 4"/>
          <p:cNvSpPr/>
          <p:nvPr/>
        </p:nvSpPr>
        <p:spPr>
          <a:xfrm>
            <a:off x="692259" y="1037332"/>
            <a:ext cx="2103120" cy="822960"/>
          </a:xfrm>
          <a:prstGeom prst="rect">
            <a:avLst/>
          </a:prstGeom>
          <a:noFill/>
          <a:ln/>
        </p:spPr>
        <p:txBody>
          <a:bodyPr wrap="square" lIns="0" tIns="0" rIns="0" bIns="0" rtlCol="0" anchor="t"/>
          <a:lstStyle/>
          <a:p>
            <a:pPr algn="ctr" indent="0" marL="0">
              <a:lnSpc>
                <a:spcPts val="6000"/>
              </a:lnSpc>
              <a:buNone/>
            </a:pPr>
            <a:r>
              <a:rPr lang="en-US" sz="6000" b="1" dirty="0">
                <a:solidFill>
                  <a:srgbClr val="C09E30"/>
                </a:solidFill>
                <a:latin typeface="Palatino Linotype" pitchFamily="34" charset="0"/>
                <a:ea typeface="Palatino Linotype" pitchFamily="34" charset="-122"/>
                <a:cs typeface="Palatino Linotype" pitchFamily="34" charset="-120"/>
              </a:rPr>
              <a:t>30%</a:t>
            </a:r>
            <a:endParaRPr lang="en-US" sz="6000" dirty="0"/>
          </a:p>
        </p:txBody>
      </p:sp>
      <p:sp>
        <p:nvSpPr>
          <p:cNvPr id="8" name="Text 5"/>
          <p:cNvSpPr/>
          <p:nvPr/>
        </p:nvSpPr>
        <p:spPr>
          <a:xfrm>
            <a:off x="656209" y="1875532"/>
            <a:ext cx="2175370" cy="216027"/>
          </a:xfrm>
          <a:prstGeom prst="rect">
            <a:avLst/>
          </a:prstGeom>
          <a:noFill/>
          <a:ln/>
        </p:spPr>
        <p:txBody>
          <a:bodyPr wrap="square" lIns="0" tIns="0" rIns="0" bIns="0" rtlCol="0" anchor="t"/>
          <a:lstStyle/>
          <a:p>
            <a:pPr algn="ctr" indent="0" marL="0">
              <a:spcBef>
                <a:spcPts val="600"/>
              </a:spcBef>
              <a:buNone/>
            </a:pPr>
            <a:r>
              <a:rPr lang="en-US" sz="1300" dirty="0">
                <a:solidFill>
                  <a:srgbClr val="CEBFB5"/>
                </a:solidFill>
                <a:latin typeface="Corbel" pitchFamily="34" charset="0"/>
                <a:ea typeface="Corbel" pitchFamily="34" charset="-122"/>
                <a:cs typeface="Corbel" pitchFamily="34" charset="-120"/>
              </a:rPr>
              <a:t>Commission Per Referral</a:t>
            </a:r>
            <a:endParaRPr lang="en-US" sz="1300" dirty="0"/>
          </a:p>
        </p:txBody>
      </p:sp>
      <p:sp>
        <p:nvSpPr>
          <p:cNvPr id="9" name="Text 6"/>
          <p:cNvSpPr/>
          <p:nvPr/>
        </p:nvSpPr>
        <p:spPr>
          <a:xfrm>
            <a:off x="3233886" y="799951"/>
            <a:ext cx="101501" cy="101501"/>
          </a:xfrm>
          <a:prstGeom prst="roundRect">
            <a:avLst>
              <a:gd name="adj" fmla="val 900878"/>
            </a:avLst>
          </a:prstGeom>
          <a:solidFill>
            <a:srgbClr val="C09E30"/>
          </a:solidFill>
          <a:ln/>
        </p:spPr>
        <p:txBody>
          <a:bodyPr wrap="square" rtlCol="0" anchor="ctr"/>
          <a:lstStyle/>
          <a:p>
            <a:pPr indent="0" marL="0">
              <a:buNone/>
            </a:pPr>
            <a:endParaRPr lang="en-US" dirty="0"/>
          </a:p>
        </p:txBody>
      </p:sp>
      <p:sp>
        <p:nvSpPr>
          <p:cNvPr id="10" name="Text 7"/>
          <p:cNvSpPr/>
          <p:nvPr/>
        </p:nvSpPr>
        <p:spPr>
          <a:xfrm>
            <a:off x="3436888" y="736550"/>
            <a:ext cx="5405832" cy="498920"/>
          </a:xfrm>
          <a:prstGeom prst="rect">
            <a:avLst/>
          </a:prstGeom>
          <a:noFill/>
          <a:ln/>
        </p:spPr>
        <p:txBody>
          <a:bodyPr wrap="square" lIns="0" tIns="0" rIns="0" bIns="0" rtlCol="0" anchor="t"/>
          <a:lstStyle/>
          <a:p>
            <a:pPr algn="l" indent="0" marL="0">
              <a:lnSpc>
                <a:spcPts val="1820"/>
              </a:lnSpc>
              <a:buNone/>
            </a:pPr>
            <a:r>
              <a:rPr lang="en-US" sz="1300" dirty="0">
                <a:solidFill>
                  <a:srgbClr val="CEBFB5"/>
                </a:solidFill>
                <a:latin typeface="Corbel" pitchFamily="34" charset="0"/>
                <a:ea typeface="Corbel" pitchFamily="34" charset="-122"/>
                <a:cs typeface="Corbel" pitchFamily="34" charset="-120"/>
              </a:rPr>
              <a:t>Share the playbook with someone who needs it — and earn 30% on every referral who enrolls.</a:t>
            </a:r>
            <a:endParaRPr lang="en-US" sz="1300" dirty="0"/>
          </a:p>
        </p:txBody>
      </p:sp>
      <p:sp>
        <p:nvSpPr>
          <p:cNvPr id="11" name="Text 8"/>
          <p:cNvSpPr/>
          <p:nvPr/>
        </p:nvSpPr>
        <p:spPr>
          <a:xfrm>
            <a:off x="3233886" y="1388864"/>
            <a:ext cx="101501" cy="101501"/>
          </a:xfrm>
          <a:prstGeom prst="roundRect">
            <a:avLst>
              <a:gd name="adj" fmla="val 900878"/>
            </a:avLst>
          </a:prstGeom>
          <a:solidFill>
            <a:srgbClr val="D4766A"/>
          </a:solidFill>
          <a:ln/>
        </p:spPr>
        <p:txBody>
          <a:bodyPr wrap="square" rtlCol="0" anchor="ctr"/>
          <a:lstStyle/>
          <a:p>
            <a:pPr indent="0" marL="0">
              <a:buNone/>
            </a:pPr>
            <a:endParaRPr lang="en-US" dirty="0"/>
          </a:p>
        </p:txBody>
      </p:sp>
      <p:sp>
        <p:nvSpPr>
          <p:cNvPr id="12" name="Text 9"/>
          <p:cNvSpPr/>
          <p:nvPr/>
        </p:nvSpPr>
        <p:spPr>
          <a:xfrm>
            <a:off x="3436888" y="1325463"/>
            <a:ext cx="5405832" cy="498920"/>
          </a:xfrm>
          <a:prstGeom prst="rect">
            <a:avLst/>
          </a:prstGeom>
          <a:noFill/>
          <a:ln/>
        </p:spPr>
        <p:txBody>
          <a:bodyPr wrap="square" lIns="0" tIns="0" rIns="0" bIns="0" rtlCol="0" anchor="t"/>
          <a:lstStyle/>
          <a:p>
            <a:pPr algn="l" indent="0" marL="0">
              <a:lnSpc>
                <a:spcPts val="1820"/>
              </a:lnSpc>
              <a:buNone/>
            </a:pPr>
            <a:r>
              <a:rPr lang="en-US" sz="1300" dirty="0">
                <a:solidFill>
                  <a:srgbClr val="CEBFB5"/>
                </a:solidFill>
                <a:latin typeface="Corbel" pitchFamily="34" charset="0"/>
                <a:ea typeface="Corbel" pitchFamily="34" charset="-122"/>
                <a:cs typeface="Corbel" pitchFamily="34" charset="-120"/>
              </a:rPr>
              <a:t>No inventory, no overhead — just share your link and let the framework do the rest.</a:t>
            </a:r>
            <a:endParaRPr lang="en-US" sz="1300" dirty="0"/>
          </a:p>
        </p:txBody>
      </p:sp>
      <p:sp>
        <p:nvSpPr>
          <p:cNvPr id="13" name="Text 10"/>
          <p:cNvSpPr/>
          <p:nvPr/>
        </p:nvSpPr>
        <p:spPr>
          <a:xfrm>
            <a:off x="3233886" y="1977777"/>
            <a:ext cx="101501" cy="101501"/>
          </a:xfrm>
          <a:prstGeom prst="roundRect">
            <a:avLst>
              <a:gd name="adj" fmla="val 900878"/>
            </a:avLst>
          </a:prstGeom>
          <a:solidFill>
            <a:srgbClr val="FFFFFF"/>
          </a:solidFill>
          <a:ln/>
        </p:spPr>
        <p:txBody>
          <a:bodyPr wrap="square" rtlCol="0" anchor="ctr"/>
          <a:lstStyle/>
          <a:p>
            <a:pPr indent="0" marL="0">
              <a:buNone/>
            </a:pPr>
            <a:endParaRPr lang="en-US" dirty="0"/>
          </a:p>
        </p:txBody>
      </p:sp>
      <p:sp>
        <p:nvSpPr>
          <p:cNvPr id="14" name="Text 11"/>
          <p:cNvSpPr/>
          <p:nvPr/>
        </p:nvSpPr>
        <p:spPr>
          <a:xfrm>
            <a:off x="3436888" y="1914376"/>
            <a:ext cx="5405832" cy="498920"/>
          </a:xfrm>
          <a:prstGeom prst="rect">
            <a:avLst/>
          </a:prstGeom>
          <a:noFill/>
          <a:ln/>
        </p:spPr>
        <p:txBody>
          <a:bodyPr wrap="square" lIns="0" tIns="0" rIns="0" bIns="0" rtlCol="0" anchor="t"/>
          <a:lstStyle/>
          <a:p>
            <a:pPr algn="l" indent="0" marL="0">
              <a:lnSpc>
                <a:spcPts val="1820"/>
              </a:lnSpc>
              <a:buNone/>
            </a:pPr>
            <a:r>
              <a:rPr lang="en-US" sz="1300" dirty="0">
                <a:solidFill>
                  <a:srgbClr val="CEBFB5"/>
                </a:solidFill>
                <a:latin typeface="Corbel" pitchFamily="34" charset="0"/>
                <a:ea typeface="Corbel" pitchFamily="34" charset="-122"/>
                <a:cs typeface="Corbel" pitchFamily="34" charset="-120"/>
              </a:rPr>
              <a:t>Every referral is someone whose sales career you're investing in. Profit with purpose.</a:t>
            </a:r>
            <a:endParaRPr lang="en-US" sz="1300" dirty="0"/>
          </a:p>
        </p:txBody>
      </p:sp>
      <p:sp>
        <p:nvSpPr>
          <p:cNvPr id="15" name="Text 12"/>
          <p:cNvSpPr/>
          <p:nvPr/>
        </p:nvSpPr>
        <p:spPr>
          <a:xfrm>
            <a:off x="558701" y="2579489"/>
            <a:ext cx="8026598" cy="615851"/>
          </a:xfrm>
          <a:prstGeom prst="roundRect">
            <a:avLst>
              <a:gd name="adj" fmla="val 8249"/>
            </a:avLst>
          </a:prstGeom>
          <a:solidFill>
            <a:srgbClr val="C09E30">
              <a:alpha val="12000"/>
            </a:srgbClr>
          </a:solidFill>
          <a:ln w="9525">
            <a:solidFill>
              <a:srgbClr val="C09E30"/>
            </a:solidFill>
          </a:ln>
        </p:spPr>
        <p:txBody>
          <a:bodyPr wrap="square" rtlCol="0" anchor="ctr"/>
          <a:lstStyle/>
          <a:p>
            <a:pPr indent="0" marL="0">
              <a:buNone/>
            </a:pPr>
            <a:endParaRPr lang="en-US" dirty="0"/>
          </a:p>
        </p:txBody>
      </p:sp>
      <p:sp>
        <p:nvSpPr>
          <p:cNvPr id="16" name="Text 13"/>
          <p:cNvSpPr/>
          <p:nvPr/>
        </p:nvSpPr>
        <p:spPr>
          <a:xfrm>
            <a:off x="796826" y="2801689"/>
            <a:ext cx="1347387" cy="185166"/>
          </a:xfrm>
          <a:prstGeom prst="rect">
            <a:avLst/>
          </a:prstGeom>
          <a:noFill/>
          <a:ln/>
        </p:spPr>
        <p:txBody>
          <a:bodyPr wrap="none" lIns="0" tIns="0" rIns="0" bIns="0" rtlCol="0" anchor="t"/>
          <a:lstStyle/>
          <a:p>
            <a:pPr algn="l" indent="0" marL="0">
              <a:buNone/>
            </a:pPr>
            <a:r>
              <a:rPr lang="en-US" sz="1200" b="1" dirty="0">
                <a:solidFill>
                  <a:srgbClr val="C09E30"/>
                </a:solidFill>
                <a:latin typeface="Corbel" pitchFamily="34" charset="0"/>
                <a:ea typeface="Corbel" pitchFamily="34" charset="-122"/>
                <a:cs typeface="Corbel" pitchFamily="34" charset="-120"/>
              </a:rPr>
              <a:t>QUICK MATH:</a:t>
            </a:r>
            <a:endParaRPr lang="en-US" sz="1200" dirty="0"/>
          </a:p>
        </p:txBody>
      </p:sp>
      <p:sp>
        <p:nvSpPr>
          <p:cNvPr id="17" name="Text 14"/>
          <p:cNvSpPr/>
          <p:nvPr/>
        </p:nvSpPr>
        <p:spPr>
          <a:xfrm>
            <a:off x="2013049" y="2715964"/>
            <a:ext cx="6650831" cy="370332"/>
          </a:xfrm>
          <a:prstGeom prst="rect">
            <a:avLst/>
          </a:prstGeom>
          <a:noFill/>
          <a:ln/>
        </p:spPr>
        <p:txBody>
          <a:bodyPr wrap="square" lIns="0" tIns="0" rIns="0" bIns="0" rtlCol="0" anchor="t"/>
          <a:lstStyle/>
          <a:p>
            <a:pPr algn="l" indent="0" marL="0">
              <a:buNone/>
            </a:pPr>
            <a:r>
              <a:rPr lang="en-US" sz="1200" dirty="0">
                <a:solidFill>
                  <a:srgbClr val="CEBFB5"/>
                </a:solidFill>
                <a:latin typeface="Corbel" pitchFamily="34" charset="0"/>
                <a:ea typeface="Corbel" pitchFamily="34" charset="-122"/>
                <a:cs typeface="Corbel" pitchFamily="34" charset="-120"/>
              </a:rPr>
              <a:t>$27 playbook × 30% = </a:t>
            </a:r>
            <a:pPr algn="l" indent="0" marL="0">
              <a:buNone/>
            </a:pPr>
            <a:r>
              <a:rPr lang="en-US" sz="1200" b="1" dirty="0">
                <a:solidFill>
                  <a:srgbClr val="C09E30"/>
                </a:solidFill>
                <a:latin typeface="Corbel" pitchFamily="34" charset="0"/>
                <a:ea typeface="Corbel" pitchFamily="34" charset="-122"/>
                <a:cs typeface="Corbel" pitchFamily="34" charset="-120"/>
              </a:rPr>
              <a:t>$8.10 per referral</a:t>
            </a:r>
            <a:pPr algn="l" indent="0" marL="0">
              <a:buNone/>
            </a:pPr>
            <a:r>
              <a:rPr lang="en-US" sz="1200" dirty="0">
                <a:solidFill>
                  <a:srgbClr val="CEBFB5"/>
                </a:solidFill>
                <a:latin typeface="Corbel" pitchFamily="34" charset="0"/>
                <a:ea typeface="Corbel" pitchFamily="34" charset="-122"/>
                <a:cs typeface="Corbel" pitchFamily="34" charset="-120"/>
              </a:rPr>
              <a:t>. 10 referrals/week = </a:t>
            </a:r>
            <a:pPr algn="l" indent="0" marL="0">
              <a:buNone/>
            </a:pPr>
            <a:r>
              <a:rPr lang="en-US" sz="1200" b="1" dirty="0">
                <a:solidFill>
                  <a:srgbClr val="C09E30"/>
                </a:solidFill>
                <a:latin typeface="Corbel" pitchFamily="34" charset="0"/>
                <a:ea typeface="Corbel" pitchFamily="34" charset="-122"/>
                <a:cs typeface="Corbel" pitchFamily="34" charset="-120"/>
              </a:rPr>
              <a:t>$324/month</a:t>
            </a:r>
            <a:pPr algn="l" indent="0" marL="0">
              <a:buNone/>
            </a:pPr>
            <a:r>
              <a:rPr lang="en-US" sz="1200" dirty="0">
                <a:solidFill>
                  <a:srgbClr val="CEBFB5"/>
                </a:solidFill>
                <a:latin typeface="Corbel" pitchFamily="34" charset="0"/>
                <a:ea typeface="Corbel" pitchFamily="34" charset="-122"/>
                <a:cs typeface="Corbel" pitchFamily="34" charset="-120"/>
              </a:rPr>
              <a:t> in passive income.</a:t>
            </a:r>
            <a:endParaRPr lang="en-US" sz="1200" dirty="0"/>
          </a:p>
        </p:txBody>
      </p:sp>
      <p:sp>
        <p:nvSpPr>
          <p:cNvPr id="18" name="Text 15"/>
          <p:cNvSpPr/>
          <p:nvPr/>
        </p:nvSpPr>
        <p:spPr>
          <a:xfrm>
            <a:off x="558701" y="3347740"/>
            <a:ext cx="8026598" cy="1096863"/>
          </a:xfrm>
          <a:prstGeom prst="rect">
            <a:avLst/>
          </a:prstGeom>
          <a:solidFill>
            <a:srgbClr val="2E1B10">
              <a:alpha val="70000"/>
            </a:srgbClr>
          </a:solidFill>
          <a:ln/>
        </p:spPr>
        <p:txBody>
          <a:bodyPr wrap="square" rtlCol="0" anchor="ctr"/>
          <a:lstStyle/>
          <a:p>
            <a:pPr indent="0" marL="0">
              <a:buNone/>
            </a:pPr>
            <a:endParaRPr lang="en-US" dirty="0"/>
          </a:p>
        </p:txBody>
      </p:sp>
      <p:sp>
        <p:nvSpPr>
          <p:cNvPr id="19" name="Shape 16"/>
          <p:cNvSpPr/>
          <p:nvPr/>
        </p:nvSpPr>
        <p:spPr>
          <a:xfrm>
            <a:off x="582513" y="3347740"/>
            <a:ext cx="0" cy="1096863"/>
          </a:xfrm>
          <a:prstGeom prst="line">
            <a:avLst/>
          </a:prstGeom>
          <a:noFill/>
          <a:ln w="47625">
            <a:solidFill>
              <a:srgbClr val="D4766A"/>
            </a:solidFill>
            <a:prstDash val="solid"/>
          </a:ln>
        </p:spPr>
      </p:sp>
      <p:sp>
        <p:nvSpPr>
          <p:cNvPr id="20" name="Text 17"/>
          <p:cNvSpPr/>
          <p:nvPr/>
        </p:nvSpPr>
        <p:spPr>
          <a:xfrm>
            <a:off x="809476" y="3474690"/>
            <a:ext cx="8334524" cy="164592"/>
          </a:xfrm>
          <a:prstGeom prst="rect">
            <a:avLst/>
          </a:prstGeom>
          <a:noFill/>
          <a:ln/>
        </p:spPr>
        <p:txBody>
          <a:bodyPr wrap="none" lIns="0" tIns="0" rIns="0" bIns="0" rtlCol="0" anchor="t"/>
          <a:lstStyle/>
          <a:p>
            <a:pPr algn="l" indent="0" marL="0">
              <a:spcAft>
                <a:spcPts val="400"/>
              </a:spcAft>
              <a:buNone/>
            </a:pPr>
            <a:r>
              <a:rPr lang="en-US" sz="1100" b="1" dirty="0">
                <a:solidFill>
                  <a:srgbClr val="D4766A"/>
                </a:solidFill>
                <a:latin typeface="Corbel" pitchFamily="34" charset="0"/>
                <a:ea typeface="Corbel" pitchFamily="34" charset="-122"/>
                <a:cs typeface="Corbel" pitchFamily="34" charset="-120"/>
              </a:rPr>
              <a:t>AFFILIATE OUTREACH SCRIPT</a:t>
            </a:r>
            <a:endParaRPr lang="en-US" sz="1100" dirty="0"/>
          </a:p>
        </p:txBody>
      </p:sp>
      <p:sp>
        <p:nvSpPr>
          <p:cNvPr id="21" name="Text 18"/>
          <p:cNvSpPr/>
          <p:nvPr/>
        </p:nvSpPr>
        <p:spPr>
          <a:xfrm>
            <a:off x="809476" y="3677841"/>
            <a:ext cx="7951306" cy="690997"/>
          </a:xfrm>
          <a:prstGeom prst="rect">
            <a:avLst/>
          </a:prstGeom>
          <a:noFill/>
          <a:ln/>
        </p:spPr>
        <p:txBody>
          <a:bodyPr wrap="square" lIns="0" tIns="0" rIns="0" bIns="0" rtlCol="0" anchor="t"/>
          <a:lstStyle/>
          <a:p>
            <a:pPr algn="l" indent="0" marL="0">
              <a:lnSpc>
                <a:spcPts val="1680"/>
              </a:lnSpc>
              <a:buNone/>
            </a:pPr>
            <a:r>
              <a:rPr lang="en-US" sz="1200" i="1" dirty="0">
                <a:solidFill>
                  <a:srgbClr val="9E8A7A"/>
                </a:solidFill>
                <a:latin typeface="Corbel" pitchFamily="34" charset="0"/>
                <a:ea typeface="Corbel" pitchFamily="34" charset="-122"/>
                <a:cs typeface="Corbel" pitchFamily="34" charset="-120"/>
              </a:rPr>
              <a:t>"Hey [Name], I just went through a sales playbook that shifted how I think about accountability — and I thought of you. Want me to send you the link? Full disclosure: I earn a small referral if you grab it, but I wouldn't share it if it didn't deliver."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F0"/>
        </a:solidFill>
      </p:bgPr>
    </p:bg>
    <p:spTree>
      <p:nvGrpSpPr>
        <p:cNvPr id="1" name=""/>
        <p:cNvGrpSpPr/>
        <p:nvPr/>
      </p:nvGrpSpPr>
      <p:grpSpPr>
        <a:xfrm>
          <a:off x="0" y="0"/>
          <a:ext cx="0" cy="0"/>
          <a:chOff x="0" y="0"/>
          <a:chExt cx="0" cy="0"/>
        </a:xfrm>
      </p:grpSpPr>
      <p:sp>
        <p:nvSpPr>
          <p:cNvPr id="2" name="Text 0"/>
          <p:cNvSpPr/>
          <p:nvPr/>
        </p:nvSpPr>
        <p:spPr>
          <a:xfrm>
            <a:off x="0" y="0"/>
            <a:ext cx="9144000" cy="707827"/>
          </a:xfrm>
          <a:prstGeom prst="rect">
            <a:avLst/>
          </a:prstGeom>
          <a:solidFill>
            <a:srgbClr val="2D1B10"/>
          </a:solidFill>
          <a:ln/>
        </p:spPr>
        <p:txBody>
          <a:bodyPr wrap="square" rtlCol="0" anchor="ctr"/>
          <a:lstStyle/>
          <a:p>
            <a:pPr indent="0" marL="0">
              <a:buNone/>
            </a:pPr>
            <a:endParaRPr lang="en-US" dirty="0"/>
          </a:p>
        </p:txBody>
      </p:sp>
      <p:sp>
        <p:nvSpPr>
          <p:cNvPr id="3" name="Text 1"/>
          <p:cNvSpPr/>
          <p:nvPr/>
        </p:nvSpPr>
        <p:spPr>
          <a:xfrm>
            <a:off x="457200" y="239613"/>
            <a:ext cx="1229320" cy="228600"/>
          </a:xfrm>
          <a:prstGeom prst="roundRect">
            <a:avLst>
              <a:gd name="adj" fmla="val 11111"/>
            </a:avLst>
          </a:prstGeom>
          <a:solidFill>
            <a:srgbClr val="C09E30"/>
          </a:solidFill>
          <a:ln/>
        </p:spPr>
        <p:txBody>
          <a:bodyPr wrap="square" rtlCol="0" anchor="ctr"/>
          <a:lstStyle/>
          <a:p>
            <a:pPr indent="0" marL="0">
              <a:buNone/>
            </a:pPr>
            <a:endParaRPr lang="en-US" dirty="0"/>
          </a:p>
        </p:txBody>
      </p:sp>
      <p:sp>
        <p:nvSpPr>
          <p:cNvPr id="4" name="Text 2"/>
          <p:cNvSpPr/>
          <p:nvPr/>
        </p:nvSpPr>
        <p:spPr>
          <a:xfrm>
            <a:off x="609600" y="277713"/>
            <a:ext cx="1294328" cy="164592"/>
          </a:xfrm>
          <a:prstGeom prst="rect">
            <a:avLst/>
          </a:prstGeom>
          <a:noFill/>
          <a:ln/>
        </p:spPr>
        <p:txBody>
          <a:bodyPr wrap="none" lIns="0" tIns="0" rIns="0" bIns="0" rtlCol="0" anchor="t"/>
          <a:lstStyle/>
          <a:p>
            <a:pPr algn="l" indent="0" marL="0">
              <a:buNone/>
            </a:pPr>
            <a:r>
              <a:rPr lang="en-US" sz="1100" b="1" spc="200" kern="0" dirty="0">
                <a:solidFill>
                  <a:srgbClr val="1E120A"/>
                </a:solidFill>
                <a:latin typeface="Corbel" pitchFamily="34" charset="0"/>
                <a:ea typeface="Corbel" pitchFamily="34" charset="-122"/>
                <a:cs typeface="Corbel" pitchFamily="34" charset="-120"/>
              </a:rPr>
              <a:t>INCLUDED</a:t>
            </a:r>
            <a:endParaRPr lang="en-US" sz="1100" dirty="0"/>
          </a:p>
        </p:txBody>
      </p:sp>
      <p:sp>
        <p:nvSpPr>
          <p:cNvPr id="5" name="Text 3"/>
          <p:cNvSpPr/>
          <p:nvPr/>
        </p:nvSpPr>
        <p:spPr>
          <a:xfrm>
            <a:off x="1864221" y="177701"/>
            <a:ext cx="2494062" cy="380619"/>
          </a:xfrm>
          <a:prstGeom prst="rect">
            <a:avLst/>
          </a:prstGeom>
          <a:noFill/>
          <a:ln/>
        </p:spPr>
        <p:txBody>
          <a:bodyPr wrap="none" lIns="0" tIns="0" rIns="0" bIns="0" rtlCol="0" anchor="t"/>
          <a:lstStyle/>
          <a:p>
            <a:pPr algn="l" indent="0" marL="0">
              <a:buNone/>
            </a:pPr>
            <a:r>
              <a:rPr lang="en-US" sz="2400" b="1" dirty="0">
                <a:solidFill>
                  <a:srgbClr val="FFFFFF"/>
                </a:solidFill>
                <a:latin typeface="Palatino Linotype" pitchFamily="34" charset="0"/>
                <a:ea typeface="Palatino Linotype" pitchFamily="34" charset="-122"/>
                <a:cs typeface="Palatino Linotype" pitchFamily="34" charset="-120"/>
              </a:rPr>
              <a:t>Your Bonuses</a:t>
            </a:r>
            <a:endParaRPr lang="en-US" sz="2400" dirty="0"/>
          </a:p>
        </p:txBody>
      </p:sp>
      <p:sp>
        <p:nvSpPr>
          <p:cNvPr id="6" name="Text 4"/>
          <p:cNvSpPr/>
          <p:nvPr/>
        </p:nvSpPr>
        <p:spPr>
          <a:xfrm>
            <a:off x="457200" y="936427"/>
            <a:ext cx="4038600" cy="1300014"/>
          </a:xfrm>
          <a:prstGeom prst="roundRect">
            <a:avLst>
              <a:gd name="adj" fmla="val 3908"/>
            </a:avLst>
          </a:prstGeom>
          <a:solidFill>
            <a:srgbClr val="FFFFFF"/>
          </a:solidFill>
          <a:ln w="9525">
            <a:solidFill>
              <a:srgbClr val="CEBFB5"/>
            </a:solidFill>
          </a:ln>
        </p:spPr>
        <p:txBody>
          <a:bodyPr wrap="square" rtlCol="0" anchor="ctr"/>
          <a:lstStyle/>
          <a:p>
            <a:pPr indent="0" marL="0">
              <a:buNone/>
            </a:pPr>
            <a:endParaRPr lang="en-US" dirty="0"/>
          </a:p>
        </p:txBody>
      </p:sp>
      <p:sp>
        <p:nvSpPr>
          <p:cNvPr id="7" name="Text 5"/>
          <p:cNvSpPr/>
          <p:nvPr/>
        </p:nvSpPr>
        <p:spPr>
          <a:xfrm>
            <a:off x="669875" y="1126927"/>
            <a:ext cx="874514" cy="203002"/>
          </a:xfrm>
          <a:prstGeom prst="roundRect">
            <a:avLst>
              <a:gd name="adj" fmla="val 12512"/>
            </a:avLst>
          </a:prstGeom>
          <a:solidFill>
            <a:srgbClr val="C09E30"/>
          </a:solidFill>
          <a:ln/>
        </p:spPr>
        <p:txBody>
          <a:bodyPr wrap="square" rtlCol="0" anchor="ctr"/>
          <a:lstStyle/>
          <a:p>
            <a:pPr indent="0" marL="0">
              <a:buNone/>
            </a:pPr>
            <a:endParaRPr lang="en-US" dirty="0"/>
          </a:p>
        </p:txBody>
      </p:sp>
      <p:sp>
        <p:nvSpPr>
          <p:cNvPr id="8" name="Text 6"/>
          <p:cNvSpPr/>
          <p:nvPr/>
        </p:nvSpPr>
        <p:spPr>
          <a:xfrm>
            <a:off x="796826" y="1152227"/>
            <a:ext cx="868859" cy="164592"/>
          </a:xfrm>
          <a:prstGeom prst="rect">
            <a:avLst/>
          </a:prstGeom>
          <a:noFill/>
          <a:ln/>
        </p:spPr>
        <p:txBody>
          <a:bodyPr wrap="none" lIns="0" tIns="0" rIns="0" bIns="0" rtlCol="0" anchor="t"/>
          <a:lstStyle/>
          <a:p>
            <a:pPr algn="l" indent="0" marL="0">
              <a:buNone/>
            </a:pPr>
            <a:r>
              <a:rPr lang="en-US" sz="1100" b="1" dirty="0">
                <a:solidFill>
                  <a:srgbClr val="1E120A"/>
                </a:solidFill>
                <a:latin typeface="Corbel" pitchFamily="34" charset="0"/>
                <a:ea typeface="Corbel" pitchFamily="34" charset="-122"/>
                <a:cs typeface="Corbel" pitchFamily="34" charset="-120"/>
              </a:rPr>
              <a:t>BONUS 1</a:t>
            </a:r>
            <a:endParaRPr lang="en-US" sz="1100" dirty="0"/>
          </a:p>
        </p:txBody>
      </p:sp>
      <p:sp>
        <p:nvSpPr>
          <p:cNvPr id="9" name="Text 7"/>
          <p:cNvSpPr/>
          <p:nvPr/>
        </p:nvSpPr>
        <p:spPr>
          <a:xfrm>
            <a:off x="1645890" y="1123652"/>
            <a:ext cx="2535036" cy="226314"/>
          </a:xfrm>
          <a:prstGeom prst="rect">
            <a:avLst/>
          </a:prstGeom>
          <a:noFill/>
          <a:ln/>
        </p:spPr>
        <p:txBody>
          <a:bodyPr wrap="none" lIns="0" tIns="0" rIns="0" bIns="0" rtlCol="0" anchor="t"/>
          <a:lstStyle/>
          <a:p>
            <a:pPr algn="l" indent="0" marL="0">
              <a:buNone/>
            </a:pPr>
            <a:r>
              <a:rPr lang="en-US" sz="1400" b="1" dirty="0">
                <a:solidFill>
                  <a:srgbClr val="3C2415"/>
                </a:solidFill>
                <a:latin typeface="Corbel" pitchFamily="34" charset="0"/>
                <a:ea typeface="Corbel" pitchFamily="34" charset="-122"/>
                <a:cs typeface="Corbel" pitchFamily="34" charset="-120"/>
              </a:rPr>
              <a:t>Accountability Tracker</a:t>
            </a:r>
            <a:endParaRPr lang="en-US" sz="1400" dirty="0"/>
          </a:p>
        </p:txBody>
      </p:sp>
      <p:sp>
        <p:nvSpPr>
          <p:cNvPr id="10" name="Text 8"/>
          <p:cNvSpPr/>
          <p:nvPr/>
        </p:nvSpPr>
        <p:spPr>
          <a:xfrm>
            <a:off x="669875" y="1409402"/>
            <a:ext cx="3793912" cy="690997"/>
          </a:xfrm>
          <a:prstGeom prst="rect">
            <a:avLst/>
          </a:prstGeom>
          <a:noFill/>
          <a:ln/>
        </p:spPr>
        <p:txBody>
          <a:bodyPr wrap="square" lIns="0" tIns="0" rIns="0" bIns="0" rtlCol="0" anchor="t"/>
          <a:lstStyle/>
          <a:p>
            <a:pPr algn="l" indent="0" marL="0">
              <a:lnSpc>
                <a:spcPts val="1680"/>
              </a:lnSpc>
              <a:buNone/>
            </a:pPr>
            <a:r>
              <a:rPr lang="en-US" sz="1200" dirty="0">
                <a:solidFill>
                  <a:srgbClr val="6B5443"/>
                </a:solidFill>
                <a:latin typeface="Corbel" pitchFamily="34" charset="0"/>
                <a:ea typeface="Corbel" pitchFamily="34" charset="-122"/>
                <a:cs typeface="Corbel" pitchFamily="34" charset="-120"/>
              </a:rPr>
              <a:t>A simple weekly spreadsheet to track promises made, kept, and broken — so nothing falls through the cracks.</a:t>
            </a:r>
            <a:endParaRPr lang="en-US" sz="1200" dirty="0"/>
          </a:p>
        </p:txBody>
      </p:sp>
      <p:sp>
        <p:nvSpPr>
          <p:cNvPr id="11" name="Text 9"/>
          <p:cNvSpPr/>
          <p:nvPr/>
        </p:nvSpPr>
        <p:spPr>
          <a:xfrm>
            <a:off x="4648200" y="936427"/>
            <a:ext cx="4038600" cy="1300014"/>
          </a:xfrm>
          <a:prstGeom prst="roundRect">
            <a:avLst>
              <a:gd name="adj" fmla="val 3908"/>
            </a:avLst>
          </a:prstGeom>
          <a:solidFill>
            <a:srgbClr val="FFFFFF"/>
          </a:solidFill>
          <a:ln w="9525">
            <a:solidFill>
              <a:srgbClr val="CEBFB5"/>
            </a:solidFill>
          </a:ln>
        </p:spPr>
        <p:txBody>
          <a:bodyPr wrap="square" rtlCol="0" anchor="ctr"/>
          <a:lstStyle/>
          <a:p>
            <a:pPr indent="0" marL="0">
              <a:buNone/>
            </a:pPr>
            <a:endParaRPr lang="en-US" dirty="0"/>
          </a:p>
        </p:txBody>
      </p:sp>
      <p:sp>
        <p:nvSpPr>
          <p:cNvPr id="12" name="Text 10"/>
          <p:cNvSpPr/>
          <p:nvPr/>
        </p:nvSpPr>
        <p:spPr>
          <a:xfrm>
            <a:off x="4860875" y="1126927"/>
            <a:ext cx="874514" cy="203002"/>
          </a:xfrm>
          <a:prstGeom prst="roundRect">
            <a:avLst>
              <a:gd name="adj" fmla="val 12512"/>
            </a:avLst>
          </a:prstGeom>
          <a:solidFill>
            <a:srgbClr val="C09E30"/>
          </a:solidFill>
          <a:ln/>
        </p:spPr>
        <p:txBody>
          <a:bodyPr wrap="square" rtlCol="0" anchor="ctr"/>
          <a:lstStyle/>
          <a:p>
            <a:pPr indent="0" marL="0">
              <a:buNone/>
            </a:pPr>
            <a:endParaRPr lang="en-US" dirty="0"/>
          </a:p>
        </p:txBody>
      </p:sp>
      <p:sp>
        <p:nvSpPr>
          <p:cNvPr id="13" name="Text 11"/>
          <p:cNvSpPr/>
          <p:nvPr/>
        </p:nvSpPr>
        <p:spPr>
          <a:xfrm>
            <a:off x="4987826" y="1152227"/>
            <a:ext cx="868859" cy="164592"/>
          </a:xfrm>
          <a:prstGeom prst="rect">
            <a:avLst/>
          </a:prstGeom>
          <a:noFill/>
          <a:ln/>
        </p:spPr>
        <p:txBody>
          <a:bodyPr wrap="none" lIns="0" tIns="0" rIns="0" bIns="0" rtlCol="0" anchor="t"/>
          <a:lstStyle/>
          <a:p>
            <a:pPr algn="l" indent="0" marL="0">
              <a:buNone/>
            </a:pPr>
            <a:r>
              <a:rPr lang="en-US" sz="1100" b="1" dirty="0">
                <a:solidFill>
                  <a:srgbClr val="1E120A"/>
                </a:solidFill>
                <a:latin typeface="Corbel" pitchFamily="34" charset="0"/>
                <a:ea typeface="Corbel" pitchFamily="34" charset="-122"/>
                <a:cs typeface="Corbel" pitchFamily="34" charset="-120"/>
              </a:rPr>
              <a:t>BONUS 2</a:t>
            </a:r>
            <a:endParaRPr lang="en-US" sz="1100" dirty="0"/>
          </a:p>
        </p:txBody>
      </p:sp>
      <p:sp>
        <p:nvSpPr>
          <p:cNvPr id="14" name="Text 12"/>
          <p:cNvSpPr/>
          <p:nvPr/>
        </p:nvSpPr>
        <p:spPr>
          <a:xfrm>
            <a:off x="5836890" y="1123652"/>
            <a:ext cx="2770784" cy="226314"/>
          </a:xfrm>
          <a:prstGeom prst="rect">
            <a:avLst/>
          </a:prstGeom>
          <a:noFill/>
          <a:ln/>
        </p:spPr>
        <p:txBody>
          <a:bodyPr wrap="none" lIns="0" tIns="0" rIns="0" bIns="0" rtlCol="0" anchor="t"/>
          <a:lstStyle/>
          <a:p>
            <a:pPr algn="l" indent="0" marL="0">
              <a:buNone/>
            </a:pPr>
            <a:r>
              <a:rPr lang="en-US" sz="1400" b="1" dirty="0">
                <a:solidFill>
                  <a:srgbClr val="3C2415"/>
                </a:solidFill>
                <a:latin typeface="Corbel" pitchFamily="34" charset="0"/>
                <a:ea typeface="Corbel" pitchFamily="34" charset="-122"/>
                <a:cs typeface="Corbel" pitchFamily="34" charset="-120"/>
              </a:rPr>
              <a:t>Client Follow-Up System</a:t>
            </a:r>
            <a:endParaRPr lang="en-US" sz="1400" dirty="0"/>
          </a:p>
        </p:txBody>
      </p:sp>
      <p:sp>
        <p:nvSpPr>
          <p:cNvPr id="15" name="Text 13"/>
          <p:cNvSpPr/>
          <p:nvPr/>
        </p:nvSpPr>
        <p:spPr>
          <a:xfrm>
            <a:off x="4860875" y="1409402"/>
            <a:ext cx="3793912" cy="690997"/>
          </a:xfrm>
          <a:prstGeom prst="rect">
            <a:avLst/>
          </a:prstGeom>
          <a:noFill/>
          <a:ln/>
        </p:spPr>
        <p:txBody>
          <a:bodyPr wrap="square" lIns="0" tIns="0" rIns="0" bIns="0" rtlCol="0" anchor="t"/>
          <a:lstStyle/>
          <a:p>
            <a:pPr algn="l" indent="0" marL="0">
              <a:lnSpc>
                <a:spcPts val="1680"/>
              </a:lnSpc>
              <a:buNone/>
            </a:pPr>
            <a:r>
              <a:rPr lang="en-US" sz="1200" dirty="0">
                <a:solidFill>
                  <a:srgbClr val="6B5443"/>
                </a:solidFill>
                <a:latin typeface="Corbel" pitchFamily="34" charset="0"/>
                <a:ea typeface="Corbel" pitchFamily="34" charset="-122"/>
                <a:cs typeface="Corbel" pitchFamily="34" charset="-120"/>
              </a:rPr>
              <a:t>A 5-touch follow-up cadence with ownership-language templates for every stage — from first meeting to close.</a:t>
            </a:r>
            <a:endParaRPr lang="en-US" sz="1200" dirty="0"/>
          </a:p>
        </p:txBody>
      </p:sp>
      <p:sp>
        <p:nvSpPr>
          <p:cNvPr id="16" name="Text 14"/>
          <p:cNvSpPr/>
          <p:nvPr/>
        </p:nvSpPr>
        <p:spPr>
          <a:xfrm>
            <a:off x="457200" y="2363391"/>
            <a:ext cx="4038600" cy="1300014"/>
          </a:xfrm>
          <a:prstGeom prst="roundRect">
            <a:avLst>
              <a:gd name="adj" fmla="val 3908"/>
            </a:avLst>
          </a:prstGeom>
          <a:solidFill>
            <a:srgbClr val="FFFFFF"/>
          </a:solidFill>
          <a:ln w="9525">
            <a:solidFill>
              <a:srgbClr val="CEBFB5"/>
            </a:solidFill>
          </a:ln>
        </p:spPr>
        <p:txBody>
          <a:bodyPr wrap="square" rtlCol="0" anchor="ctr"/>
          <a:lstStyle/>
          <a:p>
            <a:pPr indent="0" marL="0">
              <a:buNone/>
            </a:pPr>
            <a:endParaRPr lang="en-US" dirty="0"/>
          </a:p>
        </p:txBody>
      </p:sp>
      <p:sp>
        <p:nvSpPr>
          <p:cNvPr id="17" name="Text 15"/>
          <p:cNvSpPr/>
          <p:nvPr/>
        </p:nvSpPr>
        <p:spPr>
          <a:xfrm>
            <a:off x="669875" y="2553891"/>
            <a:ext cx="874514" cy="203002"/>
          </a:xfrm>
          <a:prstGeom prst="roundRect">
            <a:avLst>
              <a:gd name="adj" fmla="val 12512"/>
            </a:avLst>
          </a:prstGeom>
          <a:solidFill>
            <a:srgbClr val="C09E30"/>
          </a:solidFill>
          <a:ln/>
        </p:spPr>
        <p:txBody>
          <a:bodyPr wrap="square" rtlCol="0" anchor="ctr"/>
          <a:lstStyle/>
          <a:p>
            <a:pPr indent="0" marL="0">
              <a:buNone/>
            </a:pPr>
            <a:endParaRPr lang="en-US" dirty="0"/>
          </a:p>
        </p:txBody>
      </p:sp>
      <p:sp>
        <p:nvSpPr>
          <p:cNvPr id="18" name="Text 16"/>
          <p:cNvSpPr/>
          <p:nvPr/>
        </p:nvSpPr>
        <p:spPr>
          <a:xfrm>
            <a:off x="796826" y="2579191"/>
            <a:ext cx="868859" cy="164592"/>
          </a:xfrm>
          <a:prstGeom prst="rect">
            <a:avLst/>
          </a:prstGeom>
          <a:noFill/>
          <a:ln/>
        </p:spPr>
        <p:txBody>
          <a:bodyPr wrap="none" lIns="0" tIns="0" rIns="0" bIns="0" rtlCol="0" anchor="t"/>
          <a:lstStyle/>
          <a:p>
            <a:pPr algn="l" indent="0" marL="0">
              <a:buNone/>
            </a:pPr>
            <a:r>
              <a:rPr lang="en-US" sz="1100" b="1" dirty="0">
                <a:solidFill>
                  <a:srgbClr val="1E120A"/>
                </a:solidFill>
                <a:latin typeface="Corbel" pitchFamily="34" charset="0"/>
                <a:ea typeface="Corbel" pitchFamily="34" charset="-122"/>
                <a:cs typeface="Corbel" pitchFamily="34" charset="-120"/>
              </a:rPr>
              <a:t>BONUS 3</a:t>
            </a:r>
            <a:endParaRPr lang="en-US" sz="1100" dirty="0"/>
          </a:p>
        </p:txBody>
      </p:sp>
      <p:sp>
        <p:nvSpPr>
          <p:cNvPr id="19" name="Text 17"/>
          <p:cNvSpPr/>
          <p:nvPr/>
        </p:nvSpPr>
        <p:spPr>
          <a:xfrm>
            <a:off x="1645890" y="2550616"/>
            <a:ext cx="2390142" cy="226314"/>
          </a:xfrm>
          <a:prstGeom prst="rect">
            <a:avLst/>
          </a:prstGeom>
          <a:noFill/>
          <a:ln/>
        </p:spPr>
        <p:txBody>
          <a:bodyPr wrap="none" lIns="0" tIns="0" rIns="0" bIns="0" rtlCol="0" anchor="t"/>
          <a:lstStyle/>
          <a:p>
            <a:pPr algn="l" indent="0" marL="0">
              <a:buNone/>
            </a:pPr>
            <a:r>
              <a:rPr lang="en-US" sz="1400" b="1" dirty="0">
                <a:solidFill>
                  <a:srgbClr val="3C2415"/>
                </a:solidFill>
                <a:latin typeface="Corbel" pitchFamily="34" charset="0"/>
                <a:ea typeface="Corbel" pitchFamily="34" charset="-122"/>
                <a:cs typeface="Corbel" pitchFamily="34" charset="-120"/>
              </a:rPr>
              <a:t>Team Huddle Agenda</a:t>
            </a:r>
            <a:endParaRPr lang="en-US" sz="1400" dirty="0"/>
          </a:p>
        </p:txBody>
      </p:sp>
      <p:sp>
        <p:nvSpPr>
          <p:cNvPr id="20" name="Text 18"/>
          <p:cNvSpPr/>
          <p:nvPr/>
        </p:nvSpPr>
        <p:spPr>
          <a:xfrm>
            <a:off x="669875" y="2836366"/>
            <a:ext cx="3793912" cy="690997"/>
          </a:xfrm>
          <a:prstGeom prst="rect">
            <a:avLst/>
          </a:prstGeom>
          <a:noFill/>
          <a:ln/>
        </p:spPr>
        <p:txBody>
          <a:bodyPr wrap="square" lIns="0" tIns="0" rIns="0" bIns="0" rtlCol="0" anchor="t"/>
          <a:lstStyle/>
          <a:p>
            <a:pPr algn="l" indent="0" marL="0">
              <a:lnSpc>
                <a:spcPts val="1680"/>
              </a:lnSpc>
              <a:buNone/>
            </a:pPr>
            <a:r>
              <a:rPr lang="en-US" sz="1200" dirty="0">
                <a:solidFill>
                  <a:srgbClr val="6B5443"/>
                </a:solidFill>
                <a:latin typeface="Corbel" pitchFamily="34" charset="0"/>
                <a:ea typeface="Corbel" pitchFamily="34" charset="-122"/>
                <a:cs typeface="Corbel" pitchFamily="34" charset="-120"/>
              </a:rPr>
              <a:t>A 15-minute meeting framework that keeps your team accountable, aligned, and energized — every single week.</a:t>
            </a:r>
            <a:endParaRPr lang="en-US" sz="1200" dirty="0"/>
          </a:p>
        </p:txBody>
      </p:sp>
      <p:sp>
        <p:nvSpPr>
          <p:cNvPr id="21" name="Text 19"/>
          <p:cNvSpPr/>
          <p:nvPr/>
        </p:nvSpPr>
        <p:spPr>
          <a:xfrm>
            <a:off x="4648200" y="2363391"/>
            <a:ext cx="4038600" cy="1300014"/>
          </a:xfrm>
          <a:prstGeom prst="roundRect">
            <a:avLst>
              <a:gd name="adj" fmla="val 3908"/>
            </a:avLst>
          </a:prstGeom>
          <a:solidFill>
            <a:srgbClr val="FFFFFF"/>
          </a:solidFill>
          <a:ln w="9525">
            <a:solidFill>
              <a:srgbClr val="CEBFB5"/>
            </a:solidFill>
          </a:ln>
        </p:spPr>
        <p:txBody>
          <a:bodyPr wrap="square" rtlCol="0" anchor="ctr"/>
          <a:lstStyle/>
          <a:p>
            <a:pPr indent="0" marL="0">
              <a:buNone/>
            </a:pPr>
            <a:endParaRPr lang="en-US" dirty="0"/>
          </a:p>
        </p:txBody>
      </p:sp>
      <p:sp>
        <p:nvSpPr>
          <p:cNvPr id="22" name="Text 20"/>
          <p:cNvSpPr/>
          <p:nvPr/>
        </p:nvSpPr>
        <p:spPr>
          <a:xfrm>
            <a:off x="4860875" y="2553891"/>
            <a:ext cx="874514" cy="203002"/>
          </a:xfrm>
          <a:prstGeom prst="roundRect">
            <a:avLst>
              <a:gd name="adj" fmla="val 12512"/>
            </a:avLst>
          </a:prstGeom>
          <a:solidFill>
            <a:srgbClr val="C09E30"/>
          </a:solidFill>
          <a:ln/>
        </p:spPr>
        <p:txBody>
          <a:bodyPr wrap="square" rtlCol="0" anchor="ctr"/>
          <a:lstStyle/>
          <a:p>
            <a:pPr indent="0" marL="0">
              <a:buNone/>
            </a:pPr>
            <a:endParaRPr lang="en-US" dirty="0"/>
          </a:p>
        </p:txBody>
      </p:sp>
      <p:sp>
        <p:nvSpPr>
          <p:cNvPr id="23" name="Text 21"/>
          <p:cNvSpPr/>
          <p:nvPr/>
        </p:nvSpPr>
        <p:spPr>
          <a:xfrm>
            <a:off x="4987826" y="2579191"/>
            <a:ext cx="868859" cy="164592"/>
          </a:xfrm>
          <a:prstGeom prst="rect">
            <a:avLst/>
          </a:prstGeom>
          <a:noFill/>
          <a:ln/>
        </p:spPr>
        <p:txBody>
          <a:bodyPr wrap="none" lIns="0" tIns="0" rIns="0" bIns="0" rtlCol="0" anchor="t"/>
          <a:lstStyle/>
          <a:p>
            <a:pPr algn="l" indent="0" marL="0">
              <a:buNone/>
            </a:pPr>
            <a:r>
              <a:rPr lang="en-US" sz="1100" b="1" dirty="0">
                <a:solidFill>
                  <a:srgbClr val="1E120A"/>
                </a:solidFill>
                <a:latin typeface="Corbel" pitchFamily="34" charset="0"/>
                <a:ea typeface="Corbel" pitchFamily="34" charset="-122"/>
                <a:cs typeface="Corbel" pitchFamily="34" charset="-120"/>
              </a:rPr>
              <a:t>BONUS 4</a:t>
            </a:r>
            <a:endParaRPr lang="en-US" sz="1100" dirty="0"/>
          </a:p>
        </p:txBody>
      </p:sp>
      <p:sp>
        <p:nvSpPr>
          <p:cNvPr id="24" name="Text 22"/>
          <p:cNvSpPr/>
          <p:nvPr/>
        </p:nvSpPr>
        <p:spPr>
          <a:xfrm>
            <a:off x="5836890" y="2550616"/>
            <a:ext cx="3099960" cy="226314"/>
          </a:xfrm>
          <a:prstGeom prst="rect">
            <a:avLst/>
          </a:prstGeom>
          <a:noFill/>
          <a:ln/>
        </p:spPr>
        <p:txBody>
          <a:bodyPr wrap="none" lIns="0" tIns="0" rIns="0" bIns="0" rtlCol="0" anchor="t"/>
          <a:lstStyle/>
          <a:p>
            <a:pPr algn="l" indent="0" marL="0">
              <a:buNone/>
            </a:pPr>
            <a:r>
              <a:rPr lang="en-US" sz="1400" b="1" dirty="0">
                <a:solidFill>
                  <a:srgbClr val="3C2415"/>
                </a:solidFill>
                <a:latin typeface="Corbel" pitchFamily="34" charset="0"/>
                <a:ea typeface="Corbel" pitchFamily="34" charset="-122"/>
                <a:cs typeface="Corbel" pitchFamily="34" charset="-120"/>
              </a:rPr>
              <a:t>7-Day Quick-Start Checklist</a:t>
            </a:r>
            <a:endParaRPr lang="en-US" sz="1400" dirty="0"/>
          </a:p>
        </p:txBody>
      </p:sp>
      <p:sp>
        <p:nvSpPr>
          <p:cNvPr id="25" name="Text 23"/>
          <p:cNvSpPr/>
          <p:nvPr/>
        </p:nvSpPr>
        <p:spPr>
          <a:xfrm>
            <a:off x="4860875" y="2836366"/>
            <a:ext cx="3793912" cy="690997"/>
          </a:xfrm>
          <a:prstGeom prst="rect">
            <a:avLst/>
          </a:prstGeom>
          <a:noFill/>
          <a:ln/>
        </p:spPr>
        <p:txBody>
          <a:bodyPr wrap="square" lIns="0" tIns="0" rIns="0" bIns="0" rtlCol="0" anchor="t"/>
          <a:lstStyle/>
          <a:p>
            <a:pPr algn="l" indent="0" marL="0">
              <a:lnSpc>
                <a:spcPts val="1680"/>
              </a:lnSpc>
              <a:buNone/>
            </a:pPr>
            <a:r>
              <a:rPr lang="en-US" sz="1200" dirty="0">
                <a:solidFill>
                  <a:srgbClr val="6B5443"/>
                </a:solidFill>
                <a:latin typeface="Corbel" pitchFamily="34" charset="0"/>
                <a:ea typeface="Corbel" pitchFamily="34" charset="-122"/>
                <a:cs typeface="Corbel" pitchFamily="34" charset="-120"/>
              </a:rPr>
              <a:t>Day-by-day actions to implement the full playbook in one week — from mindset shift to first ownership conversation.</a:t>
            </a:r>
            <a:endParaRPr lang="en-US" sz="1200" dirty="0"/>
          </a:p>
        </p:txBody>
      </p:sp>
      <p:sp>
        <p:nvSpPr>
          <p:cNvPr id="26" name="Text 24"/>
          <p:cNvSpPr/>
          <p:nvPr/>
        </p:nvSpPr>
        <p:spPr>
          <a:xfrm>
            <a:off x="457200" y="4591348"/>
            <a:ext cx="8229600" cy="374452"/>
          </a:xfrm>
          <a:prstGeom prst="roundRect">
            <a:avLst>
              <a:gd name="adj" fmla="val 13566"/>
            </a:avLst>
          </a:prstGeom>
          <a:solidFill>
            <a:srgbClr val="E9E2DC"/>
          </a:solidFill>
          <a:ln/>
        </p:spPr>
        <p:txBody>
          <a:bodyPr wrap="square" rtlCol="0" anchor="ctr"/>
          <a:lstStyle/>
          <a:p>
            <a:pPr indent="0" marL="0">
              <a:buNone/>
            </a:pPr>
            <a:endParaRPr lang="en-US" dirty="0"/>
          </a:p>
        </p:txBody>
      </p:sp>
      <p:sp>
        <p:nvSpPr>
          <p:cNvPr id="27" name="Text 25"/>
          <p:cNvSpPr/>
          <p:nvPr/>
        </p:nvSpPr>
        <p:spPr>
          <a:xfrm>
            <a:off x="269185" y="4692848"/>
            <a:ext cx="8605629" cy="185166"/>
          </a:xfrm>
          <a:prstGeom prst="rect">
            <a:avLst/>
          </a:prstGeom>
          <a:noFill/>
          <a:ln/>
        </p:spPr>
        <p:txBody>
          <a:bodyPr wrap="square" lIns="0" tIns="0" rIns="0" bIns="0" rtlCol="0" anchor="t"/>
          <a:lstStyle/>
          <a:p>
            <a:pPr algn="ctr" indent="0" marL="0">
              <a:buNone/>
            </a:pPr>
            <a:r>
              <a:rPr lang="en-US" sz="1200" dirty="0">
                <a:solidFill>
                  <a:srgbClr val="3C2415"/>
                </a:solidFill>
                <a:latin typeface="Corbel" pitchFamily="34" charset="0"/>
                <a:ea typeface="Corbel" pitchFamily="34" charset="-122"/>
                <a:cs typeface="Corbel" pitchFamily="34" charset="-120"/>
              </a:rPr>
              <a:t>All bonuses are included with your playbook purchase — </a:t>
            </a:r>
            <a:pPr algn="ctr" indent="0" marL="0">
              <a:buNone/>
            </a:pPr>
            <a:r>
              <a:rPr lang="en-US" sz="1200" b="1" dirty="0">
                <a:solidFill>
                  <a:srgbClr val="C09E30"/>
                </a:solidFill>
                <a:latin typeface="Corbel" pitchFamily="34" charset="0"/>
                <a:ea typeface="Corbel" pitchFamily="34" charset="-122"/>
                <a:cs typeface="Corbel" pitchFamily="34" charset="-120"/>
              </a:rPr>
              <a:t>no upsells, no hidden fees.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707827"/>
          </a:xfrm>
          <a:prstGeom prst="rect">
            <a:avLst/>
          </a:prstGeom>
          <a:solidFill>
            <a:srgbClr val="2D1B10"/>
          </a:solidFill>
          <a:ln/>
        </p:spPr>
        <p:txBody>
          <a:bodyPr wrap="square" rtlCol="0" anchor="ctr"/>
          <a:lstStyle/>
          <a:p>
            <a:pPr indent="0" marL="0">
              <a:buNone/>
            </a:pPr>
            <a:endParaRPr lang="en-US" dirty="0"/>
          </a:p>
        </p:txBody>
      </p:sp>
      <p:sp>
        <p:nvSpPr>
          <p:cNvPr id="3" name="Text 1"/>
          <p:cNvSpPr/>
          <p:nvPr/>
        </p:nvSpPr>
        <p:spPr>
          <a:xfrm>
            <a:off x="0" y="177701"/>
            <a:ext cx="8636000" cy="380619"/>
          </a:xfrm>
          <a:prstGeom prst="rect">
            <a:avLst/>
          </a:prstGeom>
          <a:noFill/>
          <a:ln/>
        </p:spPr>
        <p:txBody>
          <a:bodyPr wrap="square" lIns="0" tIns="0" rIns="0" bIns="0" rtlCol="0" anchor="t"/>
          <a:lstStyle/>
          <a:p>
            <a:pPr algn="ctr" indent="0" marL="0">
              <a:buNone/>
            </a:pPr>
            <a:r>
              <a:rPr lang="en-US" sz="2400" b="1" dirty="0">
                <a:solidFill>
                  <a:srgbClr val="FFFFFF"/>
                </a:solidFill>
                <a:latin typeface="Palatino Linotype" pitchFamily="34" charset="0"/>
                <a:ea typeface="Palatino Linotype" pitchFamily="34" charset="-122"/>
                <a:cs typeface="Palatino Linotype" pitchFamily="34" charset="-120"/>
              </a:rPr>
              <a:t>Your Next Step</a:t>
            </a:r>
            <a:endParaRPr lang="en-US" sz="2400" dirty="0"/>
          </a:p>
        </p:txBody>
      </p:sp>
      <p:sp>
        <p:nvSpPr>
          <p:cNvPr id="4" name="Text 2"/>
          <p:cNvSpPr/>
          <p:nvPr/>
        </p:nvSpPr>
        <p:spPr>
          <a:xfrm>
            <a:off x="2836162" y="961727"/>
            <a:ext cx="3471528" cy="767989"/>
          </a:xfrm>
          <a:prstGeom prst="rect">
            <a:avLst/>
          </a:prstGeom>
          <a:noFill/>
          <a:ln/>
        </p:spPr>
        <p:txBody>
          <a:bodyPr wrap="square" lIns="0" tIns="0" rIns="0" bIns="0" rtlCol="0" anchor="t"/>
          <a:lstStyle/>
          <a:p>
            <a:pPr algn="ctr" indent="0" marL="0">
              <a:lnSpc>
                <a:spcPts val="2800"/>
              </a:lnSpc>
              <a:buNone/>
            </a:pPr>
            <a:r>
              <a:rPr lang="en-US" sz="2000" dirty="0">
                <a:solidFill>
                  <a:srgbClr val="3C2415"/>
                </a:solidFill>
                <a:latin typeface="Palatino Linotype" pitchFamily="34" charset="0"/>
                <a:ea typeface="Palatino Linotype" pitchFamily="34" charset="-122"/>
                <a:cs typeface="Palatino Linotype" pitchFamily="34" charset="-120"/>
              </a:rPr>
              <a:t>"Accountability isn't about guilt.</a:t>
            </a:r>
            <a:endParaRPr lang="en-US" sz="2000" dirty="0"/>
          </a:p>
          <a:p>
            <a:pPr algn="ctr" indent="0" marL="0">
              <a:lnSpc>
                <a:spcPts val="2800"/>
              </a:lnSpc>
              <a:buNone/>
            </a:pPr>
            <a:r>
              <a:rPr lang="en-US" sz="2000" dirty="0">
                <a:solidFill>
                  <a:srgbClr val="3C2415"/>
                </a:solidFill>
                <a:latin typeface="Palatino Linotype" pitchFamily="34" charset="0"/>
                <a:ea typeface="Palatino Linotype" pitchFamily="34" charset="-122"/>
                <a:cs typeface="Palatino Linotype" pitchFamily="34" charset="-120"/>
              </a:rPr>
              <a:t>It's about power."</a:t>
            </a:r>
            <a:endParaRPr lang="en-US" sz="2000" dirty="0"/>
          </a:p>
        </p:txBody>
      </p:sp>
      <p:sp>
        <p:nvSpPr>
          <p:cNvPr id="5" name="Text 3"/>
          <p:cNvSpPr/>
          <p:nvPr/>
        </p:nvSpPr>
        <p:spPr>
          <a:xfrm>
            <a:off x="2048403" y="1799779"/>
            <a:ext cx="5047044" cy="307163"/>
          </a:xfrm>
          <a:prstGeom prst="rect">
            <a:avLst/>
          </a:prstGeom>
          <a:noFill/>
          <a:ln/>
        </p:spPr>
        <p:txBody>
          <a:bodyPr wrap="square" lIns="0" tIns="0" rIns="0" bIns="0" rtlCol="0" anchor="t"/>
          <a:lstStyle/>
          <a:p>
            <a:pPr algn="ctr" indent="0" marL="0">
              <a:lnSpc>
                <a:spcPts val="2240"/>
              </a:lnSpc>
              <a:buNone/>
            </a:pPr>
            <a:r>
              <a:rPr lang="en-US" sz="1600" dirty="0">
                <a:solidFill>
                  <a:srgbClr val="6B5443"/>
                </a:solidFill>
                <a:latin typeface="Palatino Linotype" pitchFamily="34" charset="0"/>
                <a:ea typeface="Palatino Linotype" pitchFamily="34" charset="-122"/>
                <a:cs typeface="Palatino Linotype" pitchFamily="34" charset="-120"/>
              </a:rPr>
              <a:t>You were created to lead. Now you have the framework.</a:t>
            </a:r>
            <a:endParaRPr lang="en-US" sz="1600" dirty="0"/>
          </a:p>
        </p:txBody>
      </p:sp>
      <p:sp>
        <p:nvSpPr>
          <p:cNvPr id="6" name="Text 4"/>
          <p:cNvSpPr/>
          <p:nvPr/>
        </p:nvSpPr>
        <p:spPr>
          <a:xfrm>
            <a:off x="1524000" y="2338090"/>
            <a:ext cx="6096000" cy="1863923"/>
          </a:xfrm>
          <a:prstGeom prst="roundRect">
            <a:avLst>
              <a:gd name="adj" fmla="val 4088"/>
            </a:avLst>
          </a:prstGeom>
          <a:solidFill>
            <a:srgbClr val="F5F2F0"/>
          </a:solidFill>
          <a:ln w="19050">
            <a:solidFill>
              <a:srgbClr val="C09E30"/>
            </a:solidFill>
          </a:ln>
        </p:spPr>
        <p:txBody>
          <a:bodyPr wrap="square" rtlCol="0" anchor="ctr"/>
          <a:lstStyle/>
          <a:p>
            <a:pPr indent="0" marL="0">
              <a:buNone/>
            </a:pPr>
            <a:endParaRPr lang="en-US" dirty="0"/>
          </a:p>
        </p:txBody>
      </p:sp>
      <p:sp>
        <p:nvSpPr>
          <p:cNvPr id="7" name="Text 5"/>
          <p:cNvSpPr/>
          <p:nvPr/>
        </p:nvSpPr>
        <p:spPr>
          <a:xfrm>
            <a:off x="3416796" y="2585740"/>
            <a:ext cx="3072842" cy="226314"/>
          </a:xfrm>
          <a:prstGeom prst="rect">
            <a:avLst/>
          </a:prstGeom>
          <a:noFill/>
          <a:ln/>
        </p:spPr>
        <p:txBody>
          <a:bodyPr wrap="none" lIns="0" tIns="0" rIns="0" bIns="0" rtlCol="0" anchor="t"/>
          <a:lstStyle/>
          <a:p>
            <a:pPr algn="l" indent="0" marL="0">
              <a:spcAft>
                <a:spcPts val="600"/>
              </a:spcAft>
              <a:buNone/>
            </a:pPr>
            <a:r>
              <a:rPr lang="en-US" sz="1400" b="1" dirty="0">
                <a:solidFill>
                  <a:srgbClr val="C09E30"/>
                </a:solidFill>
                <a:latin typeface="Corbel" pitchFamily="34" charset="0"/>
                <a:ea typeface="Corbel" pitchFamily="34" charset="-122"/>
                <a:cs typeface="Corbel" pitchFamily="34" charset="-120"/>
              </a:rPr>
              <a:t>GET THE FULL PLAYBOOK</a:t>
            </a:r>
            <a:endParaRPr lang="en-US" sz="1400" dirty="0"/>
          </a:p>
        </p:txBody>
      </p:sp>
      <p:sp>
        <p:nvSpPr>
          <p:cNvPr id="8" name="Text 6"/>
          <p:cNvSpPr/>
          <p:nvPr/>
        </p:nvSpPr>
        <p:spPr>
          <a:xfrm>
            <a:off x="1871663" y="2871490"/>
            <a:ext cx="5400675" cy="614327"/>
          </a:xfrm>
          <a:prstGeom prst="rect">
            <a:avLst/>
          </a:prstGeom>
          <a:noFill/>
          <a:ln/>
        </p:spPr>
        <p:txBody>
          <a:bodyPr wrap="square" lIns="0" tIns="0" rIns="0" bIns="0" rtlCol="0" anchor="t"/>
          <a:lstStyle/>
          <a:p>
            <a:pPr algn="ctr" indent="0" marL="0">
              <a:lnSpc>
                <a:spcPts val="2240"/>
              </a:lnSpc>
              <a:spcAft>
                <a:spcPts val="800"/>
              </a:spcAft>
              <a:buNone/>
            </a:pPr>
            <a:r>
              <a:rPr lang="en-US" sz="1600" dirty="0">
                <a:solidFill>
                  <a:srgbClr val="3C2415"/>
                </a:solidFill>
                <a:latin typeface="Corbel" pitchFamily="34" charset="0"/>
                <a:ea typeface="Corbel" pitchFamily="34" charset="-122"/>
                <a:cs typeface="Corbel" pitchFamily="34" charset="-120"/>
              </a:rPr>
              <a:t>Click below to get instant access to the playbook, all 4 bonuses, and your affiliate link.</a:t>
            </a:r>
            <a:endParaRPr lang="en-US" sz="1600" dirty="0"/>
          </a:p>
        </p:txBody>
      </p:sp>
      <p:sp>
        <p:nvSpPr>
          <p:cNvPr id="9" name="Text 7"/>
          <p:cNvSpPr/>
          <p:nvPr/>
        </p:nvSpPr>
        <p:spPr>
          <a:xfrm>
            <a:off x="3574703" y="3541812"/>
            <a:ext cx="1994446" cy="412552"/>
          </a:xfrm>
          <a:prstGeom prst="roundRect">
            <a:avLst>
              <a:gd name="adj" fmla="val 12314"/>
            </a:avLst>
          </a:prstGeom>
          <a:solidFill>
            <a:srgbClr val="C09E30"/>
          </a:solidFill>
          <a:ln/>
        </p:spPr>
        <p:txBody>
          <a:bodyPr wrap="square" rtlCol="0" anchor="ctr"/>
          <a:lstStyle/>
          <a:p>
            <a:pPr indent="0" marL="0">
              <a:buNone/>
            </a:pPr>
            <a:endParaRPr lang="en-US" dirty="0"/>
          </a:p>
        </p:txBody>
      </p:sp>
      <p:sp>
        <p:nvSpPr>
          <p:cNvPr id="10" name="Text 8"/>
          <p:cNvSpPr/>
          <p:nvPr/>
        </p:nvSpPr>
        <p:spPr>
          <a:xfrm>
            <a:off x="3718501" y="3643313"/>
            <a:ext cx="1706849" cy="226314"/>
          </a:xfrm>
          <a:prstGeom prst="rect">
            <a:avLst/>
          </a:prstGeom>
          <a:noFill/>
          <a:ln/>
        </p:spPr>
        <p:txBody>
          <a:bodyPr wrap="none" lIns="0" tIns="0" rIns="0" bIns="0" rtlCol="0" anchor="t"/>
          <a:lstStyle/>
          <a:p>
            <a:pPr algn="ctr" indent="0" marL="0">
              <a:buNone/>
            </a:pPr>
            <a:r>
              <a:rPr lang="en-US" sz="1400" b="1" dirty="0">
                <a:solidFill>
                  <a:srgbClr val="1E120A"/>
                </a:solidFill>
                <a:latin typeface="Corbel" pitchFamily="34" charset="0"/>
                <a:ea typeface="Corbel" pitchFamily="34" charset="-122"/>
                <a:cs typeface="Corbel" pitchFamily="34" charset="-120"/>
              </a:rPr>
              <a:t>GET IT NOW →</a:t>
            </a:r>
            <a:endParaRPr lang="en-US" sz="1400" dirty="0"/>
          </a:p>
        </p:txBody>
      </p:sp>
      <p:sp>
        <p:nvSpPr>
          <p:cNvPr id="11" name="Text 9"/>
          <p:cNvSpPr/>
          <p:nvPr/>
        </p:nvSpPr>
        <p:spPr>
          <a:xfrm>
            <a:off x="1524000" y="4405164"/>
            <a:ext cx="6096000" cy="680442"/>
          </a:xfrm>
          <a:prstGeom prst="roundRect">
            <a:avLst>
              <a:gd name="adj" fmla="val 7466"/>
            </a:avLst>
          </a:prstGeom>
          <a:solidFill>
            <a:srgbClr val="E9E2DC"/>
          </a:solidFill>
          <a:ln/>
        </p:spPr>
        <p:txBody>
          <a:bodyPr wrap="square" rtlCol="0" anchor="ctr"/>
          <a:lstStyle/>
          <a:p>
            <a:pPr indent="0" marL="0">
              <a:buNone/>
            </a:pPr>
            <a:endParaRPr lang="en-US" dirty="0"/>
          </a:p>
        </p:txBody>
      </p:sp>
      <p:sp>
        <p:nvSpPr>
          <p:cNvPr id="12" name="Text 10"/>
          <p:cNvSpPr/>
          <p:nvPr/>
        </p:nvSpPr>
        <p:spPr>
          <a:xfrm>
            <a:off x="1777901" y="4694634"/>
            <a:ext cx="101501" cy="101501"/>
          </a:xfrm>
          <a:prstGeom prst="roundRect">
            <a:avLst>
              <a:gd name="adj" fmla="val 900878"/>
            </a:avLst>
          </a:prstGeom>
          <a:solidFill>
            <a:srgbClr val="D4766A"/>
          </a:solidFill>
          <a:ln/>
        </p:spPr>
        <p:txBody>
          <a:bodyPr wrap="square" rtlCol="0" anchor="ctr"/>
          <a:lstStyle/>
          <a:p>
            <a:pPr indent="0" marL="0">
              <a:buNone/>
            </a:pPr>
            <a:endParaRPr lang="en-US" dirty="0"/>
          </a:p>
        </p:txBody>
      </p:sp>
      <p:sp>
        <p:nvSpPr>
          <p:cNvPr id="13" name="Text 11"/>
          <p:cNvSpPr/>
          <p:nvPr/>
        </p:nvSpPr>
        <p:spPr>
          <a:xfrm>
            <a:off x="2031802" y="4532114"/>
            <a:ext cx="5601013" cy="460665"/>
          </a:xfrm>
          <a:prstGeom prst="rect">
            <a:avLst/>
          </a:prstGeom>
          <a:noFill/>
          <a:ln/>
        </p:spPr>
        <p:txBody>
          <a:bodyPr wrap="square" lIns="0" tIns="0" rIns="0" bIns="0" rtlCol="0" anchor="t"/>
          <a:lstStyle/>
          <a:p>
            <a:pPr algn="l" indent="0" marL="0">
              <a:lnSpc>
                <a:spcPts val="1680"/>
              </a:lnSpc>
              <a:buNone/>
            </a:pPr>
            <a:r>
              <a:rPr lang="en-US" sz="1200" b="1" dirty="0">
                <a:solidFill>
                  <a:srgbClr val="D4766A"/>
                </a:solidFill>
                <a:latin typeface="Corbel" pitchFamily="34" charset="0"/>
                <a:ea typeface="Corbel" pitchFamily="34" charset="-122"/>
                <a:cs typeface="Corbel" pitchFamily="34" charset="-120"/>
              </a:rPr>
              <a:t>Affiliate?</a:t>
            </a:r>
            <a:pPr algn="l" indent="0" marL="0">
              <a:lnSpc>
                <a:spcPts val="1680"/>
              </a:lnSpc>
              <a:buNone/>
            </a:pPr>
            <a:r>
              <a:rPr lang="en-US" sz="1200" dirty="0">
                <a:solidFill>
                  <a:srgbClr val="3C2415"/>
                </a:solidFill>
                <a:latin typeface="Corbel" pitchFamily="34" charset="0"/>
                <a:ea typeface="Corbel" pitchFamily="34" charset="-122"/>
                <a:cs typeface="Corbel" pitchFamily="34" charset="-120"/>
              </a:rPr>
              <a:t> Your referral link is waiting inside. Start earning 30% from your first share.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ome/z/my-project/download/ppt-slides/dark-gradient.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0" y="0"/>
            <a:ext cx="9144000" cy="5143500"/>
          </a:xfrm>
          <a:prstGeom prst="rect">
            <a:avLst/>
          </a:prstGeom>
          <a:solidFill>
            <a:srgbClr val="1E120A">
              <a:alpha val="45000"/>
            </a:srgbClr>
          </a:solidFill>
          <a:ln/>
        </p:spPr>
        <p:txBody>
          <a:bodyPr wrap="square" rtlCol="0" anchor="ctr"/>
          <a:lstStyle/>
          <a:p>
            <a:pPr indent="0" marL="0">
              <a:buNone/>
            </a:pPr>
            <a:endParaRPr lang="en-US" dirty="0"/>
          </a:p>
        </p:txBody>
      </p:sp>
      <p:sp>
        <p:nvSpPr>
          <p:cNvPr id="4" name="Text 1"/>
          <p:cNvSpPr/>
          <p:nvPr/>
        </p:nvSpPr>
        <p:spPr>
          <a:xfrm>
            <a:off x="4191000" y="1174998"/>
            <a:ext cx="762000" cy="25301"/>
          </a:xfrm>
          <a:prstGeom prst="rect">
            <a:avLst/>
          </a:prstGeom>
          <a:solidFill>
            <a:srgbClr val="C09E30"/>
          </a:solidFill>
          <a:ln/>
        </p:spPr>
        <p:txBody>
          <a:bodyPr wrap="square" rtlCol="0" anchor="ctr"/>
          <a:lstStyle/>
          <a:p>
            <a:pPr indent="0" marL="0">
              <a:buNone/>
            </a:pPr>
            <a:endParaRPr lang="en-US" dirty="0"/>
          </a:p>
        </p:txBody>
      </p:sp>
      <p:sp>
        <p:nvSpPr>
          <p:cNvPr id="5" name="Text 2"/>
          <p:cNvSpPr/>
          <p:nvPr/>
        </p:nvSpPr>
        <p:spPr>
          <a:xfrm>
            <a:off x="274320" y="1454200"/>
            <a:ext cx="8595360" cy="565785"/>
          </a:xfrm>
          <a:prstGeom prst="rect">
            <a:avLst/>
          </a:prstGeom>
          <a:noFill/>
          <a:ln/>
        </p:spPr>
        <p:txBody>
          <a:bodyPr wrap="square" lIns="0" tIns="0" rIns="0" bIns="0" rtlCol="0" anchor="t"/>
          <a:lstStyle/>
          <a:p>
            <a:pPr algn="ctr" indent="0" marL="0">
              <a:spcAft>
                <a:spcPts val="800"/>
              </a:spcAft>
              <a:buNone/>
            </a:pPr>
            <a:r>
              <a:rPr lang="en-US" sz="3600" b="1" spc="200" kern="0" dirty="0">
                <a:solidFill>
                  <a:srgbClr val="FFFFFF"/>
                </a:solidFill>
                <a:latin typeface="Palatino Linotype" pitchFamily="34" charset="0"/>
                <a:ea typeface="Palatino Linotype" pitchFamily="34" charset="-122"/>
                <a:cs typeface="Palatino Linotype" pitchFamily="34" charset="-120"/>
              </a:rPr>
              <a:t>GO BUILD A BETTER US.</a:t>
            </a:r>
            <a:endParaRPr lang="en-US" sz="3600" dirty="0"/>
          </a:p>
        </p:txBody>
      </p:sp>
      <p:sp>
        <p:nvSpPr>
          <p:cNvPr id="6" name="Text 3"/>
          <p:cNvSpPr/>
          <p:nvPr/>
        </p:nvSpPr>
        <p:spPr>
          <a:xfrm>
            <a:off x="4191000" y="2079575"/>
            <a:ext cx="762000" cy="25301"/>
          </a:xfrm>
          <a:prstGeom prst="rect">
            <a:avLst/>
          </a:prstGeom>
          <a:solidFill>
            <a:srgbClr val="C09E30"/>
          </a:solidFill>
          <a:ln/>
        </p:spPr>
        <p:txBody>
          <a:bodyPr wrap="square" rtlCol="0" anchor="ctr"/>
          <a:lstStyle/>
          <a:p>
            <a:pPr indent="0" marL="0">
              <a:buNone/>
            </a:pPr>
            <a:endParaRPr lang="en-US" dirty="0"/>
          </a:p>
        </p:txBody>
      </p:sp>
      <p:sp>
        <p:nvSpPr>
          <p:cNvPr id="7" name="Text 4"/>
          <p:cNvSpPr/>
          <p:nvPr/>
        </p:nvSpPr>
        <p:spPr>
          <a:xfrm>
            <a:off x="3160929" y="2409676"/>
            <a:ext cx="2821993" cy="257175"/>
          </a:xfrm>
          <a:prstGeom prst="rect">
            <a:avLst/>
          </a:prstGeom>
          <a:noFill/>
          <a:ln/>
        </p:spPr>
        <p:txBody>
          <a:bodyPr wrap="square" lIns="0" tIns="0" rIns="0" bIns="0" rtlCol="0" anchor="t"/>
          <a:lstStyle/>
          <a:p>
            <a:pPr algn="ctr" indent="0" marL="0">
              <a:spcAft>
                <a:spcPts val="600"/>
              </a:spcAft>
              <a:buNone/>
            </a:pPr>
            <a:r>
              <a:rPr lang="en-US" sz="1600" dirty="0">
                <a:solidFill>
                  <a:srgbClr val="CEBFB5"/>
                </a:solidFill>
                <a:latin typeface="Palatino Linotype" pitchFamily="34" charset="0"/>
                <a:ea typeface="Palatino Linotype" pitchFamily="34" charset="-122"/>
                <a:cs typeface="Palatino Linotype" pitchFamily="34" charset="-120"/>
              </a:rPr>
              <a:t>Mark Anthony Ng Tantongco</a:t>
            </a:r>
            <a:endParaRPr lang="en-US" sz="1600" dirty="0"/>
          </a:p>
        </p:txBody>
      </p:sp>
      <p:sp>
        <p:nvSpPr>
          <p:cNvPr id="8" name="Text 5"/>
          <p:cNvSpPr/>
          <p:nvPr/>
        </p:nvSpPr>
        <p:spPr>
          <a:xfrm>
            <a:off x="3203854" y="2724001"/>
            <a:ext cx="2736144" cy="216027"/>
          </a:xfrm>
          <a:prstGeom prst="rect">
            <a:avLst/>
          </a:prstGeom>
          <a:noFill/>
          <a:ln/>
        </p:spPr>
        <p:txBody>
          <a:bodyPr wrap="none" lIns="0" tIns="0" rIns="0" bIns="0" rtlCol="0" anchor="t"/>
          <a:lstStyle/>
          <a:p>
            <a:pPr algn="ctr" indent="0" marL="0">
              <a:spcAft>
                <a:spcPts val="2000"/>
              </a:spcAft>
              <a:buNone/>
            </a:pPr>
            <a:r>
              <a:rPr lang="en-US" sz="1300" dirty="0">
                <a:solidFill>
                  <a:srgbClr val="9E8A7A"/>
                </a:solidFill>
                <a:latin typeface="Corbel" pitchFamily="34" charset="0"/>
                <a:ea typeface="Corbel" pitchFamily="34" charset="-122"/>
                <a:cs typeface="Corbel" pitchFamily="34" charset="-120"/>
              </a:rPr>
              <a:t>mark.tantongco@gmail.com</a:t>
            </a:r>
            <a:endParaRPr lang="en-US" sz="1300" dirty="0"/>
          </a:p>
        </p:txBody>
      </p:sp>
      <p:sp>
        <p:nvSpPr>
          <p:cNvPr id="9" name="Text 6"/>
          <p:cNvSpPr/>
          <p:nvPr/>
        </p:nvSpPr>
        <p:spPr>
          <a:xfrm>
            <a:off x="2419350" y="3177927"/>
            <a:ext cx="4305300" cy="400050"/>
          </a:xfrm>
          <a:prstGeom prst="roundRect">
            <a:avLst>
              <a:gd name="adj" fmla="val 9524"/>
            </a:avLst>
          </a:prstGeom>
          <a:noFill/>
          <a:ln w="19050">
            <a:solidFill>
              <a:srgbClr val="C09E30"/>
            </a:solidFill>
          </a:ln>
        </p:spPr>
        <p:txBody>
          <a:bodyPr wrap="square" rtlCol="0" anchor="ctr"/>
          <a:lstStyle/>
          <a:p>
            <a:pPr indent="0" marL="0">
              <a:buNone/>
            </a:pPr>
            <a:endParaRPr lang="en-US" dirty="0"/>
          </a:p>
        </p:txBody>
      </p:sp>
      <p:sp>
        <p:nvSpPr>
          <p:cNvPr id="10" name="Text 7"/>
          <p:cNvSpPr/>
          <p:nvPr/>
        </p:nvSpPr>
        <p:spPr>
          <a:xfrm>
            <a:off x="2286000" y="3273177"/>
            <a:ext cx="4572000" cy="226314"/>
          </a:xfrm>
          <a:prstGeom prst="rect">
            <a:avLst/>
          </a:prstGeom>
          <a:noFill/>
          <a:ln/>
        </p:spPr>
        <p:txBody>
          <a:bodyPr wrap="none" lIns="0" tIns="0" rIns="0" bIns="0" rtlCol="0" anchor="t"/>
          <a:lstStyle/>
          <a:p>
            <a:pPr algn="ctr" indent="0" marL="0">
              <a:buNone/>
            </a:pPr>
            <a:r>
              <a:rPr lang="en-US" sz="1400" spc="200" kern="0" dirty="0">
                <a:solidFill>
                  <a:srgbClr val="C09E30"/>
                </a:solidFill>
                <a:latin typeface="Corbel" pitchFamily="34" charset="0"/>
                <a:ea typeface="Corbel" pitchFamily="34" charset="-122"/>
                <a:cs typeface="Corbel" pitchFamily="34" charset="-120"/>
              </a:rPr>
              <a:t>FAITH + FRAMEWORK = FREEDOM</a:t>
            </a:r>
            <a:endParaRPr lang="en-US" sz="1400" dirty="0"/>
          </a:p>
        </p:txBody>
      </p:sp>
      <p:sp>
        <p:nvSpPr>
          <p:cNvPr id="11" name="Text 8"/>
          <p:cNvSpPr/>
          <p:nvPr/>
        </p:nvSpPr>
        <p:spPr>
          <a:xfrm>
            <a:off x="2457182" y="3806577"/>
            <a:ext cx="4229636" cy="174879"/>
          </a:xfrm>
          <a:prstGeom prst="rect">
            <a:avLst/>
          </a:prstGeom>
          <a:noFill/>
          <a:ln/>
        </p:spPr>
        <p:txBody>
          <a:bodyPr wrap="square" lIns="0" tIns="0" rIns="0" bIns="0" rtlCol="0" anchor="t"/>
          <a:lstStyle/>
          <a:p>
            <a:pPr algn="ctr" indent="0" marL="0">
              <a:buNone/>
            </a:pPr>
            <a:r>
              <a:rPr lang="en-US" sz="1100" i="1" dirty="0">
                <a:solidFill>
                  <a:srgbClr val="6B5443"/>
                </a:solidFill>
                <a:latin typeface="Palatino Linotype" pitchFamily="34" charset="0"/>
                <a:ea typeface="Palatino Linotype" pitchFamily="34" charset="-122"/>
                <a:cs typeface="Palatino Linotype" pitchFamily="34" charset="-120"/>
              </a:rPr>
              <a:t>"I can do all things through Christ who strengthens me — Phil 4:13"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100% Accountability Sales Playbook</dc:title>
  <dc:subject>Own Outcomes, Not Excuses</dc:subject>
  <dc:creator>Mark Anthony Ng Tantongco</dc:creator>
  <cp:lastModifiedBy>Mark Anthony Ng Tantongco</cp:lastModifiedBy>
  <cp:revision>1</cp:revision>
  <dcterms:created xsi:type="dcterms:W3CDTF">2026-04-21T17:40:08Z</dcterms:created>
  <dcterms:modified xsi:type="dcterms:W3CDTF">2026-04-21T17:40:08Z</dcterms:modified>
</cp:coreProperties>
</file>